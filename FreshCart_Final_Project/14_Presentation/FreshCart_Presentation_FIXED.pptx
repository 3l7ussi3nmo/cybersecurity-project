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IBM Plex Mono Bold" charset="1" panose="020B0809050203000203"/>
      <p:regular r:id="rId29"/>
    </p:embeddedFont>
    <p:embeddedFont>
      <p:font typeface="Montserrat Bold" charset="1" panose="00000800000000000000"/>
      <p:regular r:id="rId30"/>
    </p:embeddedFont>
    <p:embeddedFont>
      <p:font typeface="IBM Plex Sans Arabic" charset="1" panose="020B0503050203000203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48" Target="notesSlides/notesSlide18.xml" Type="http://schemas.openxmlformats.org/officeDocument/2006/relationships/notesSlide"/><Relationship Id="rId49" Target="notesSlides/notesSlide19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20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project and team. Explain this is a comprehensive cybersecurity assessment and incident investigation for the fictional FreshCart e-commerce company built in VMware. Outline the purpose and structure.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FreshCart’s operational environment and why cybersecurity is critical. Describe the suspicious events without assumptions.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through segmentation between Internet, DMZ, and internal LAN. Highlight pfSense and placement of critical endpoints.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Describe the ideal security posture and how expectations guided identification of deviations.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team structure and how work was divided. Stress clear ownership for coverage and accountability.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the Identity &amp; Access Security evidence, business risk, remediation and positive retest outcome.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the Network Security evidence, business risk, remediation and positive retest outcome.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the Data Security evidence, business risk, remediation and positive retest outcome.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the Web Application Security evidence, business risk, remediation and positive retest outcome.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the Email &amp; Phishing Security evidence, business risk, remediation and positive retest outcome.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the Vulnerability Management evidence, business risk, remediation and positive retest outcome.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the Endpoint Security evidence, business risk, remediation and positive retest outcome.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the Incident Response / SOC evidence, business risk, remediation and positive retest outcome.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Illustrate how connecting evidence across fields refined the investigation and changed remediation priorities.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prioritization based on impact, exploitability and business criticality.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Describe initial gaps and concrete remediation steps.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 retest evidence demonstrating effectiveness and improved security.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Guide the audience through the chronology and explain how confidence levels informed priorities.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Highlight how the two innovations improved threat detection and objective prioritization.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Acknowledge limitations, summarize lessons and conclude with FreshCart’s improved security position and need for ongoing vigilance.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66" r="0" b="-666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F">
                <a:alpha val="6666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D3EE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38250" y="1181100"/>
            <a:ext cx="1047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UNIVERSITY FINAL PROJECT DEFENSE  /  AUGUST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8250" y="2590800"/>
            <a:ext cx="10668000" cy="211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0"/>
              </a:lnSpc>
            </a:pPr>
            <a:r>
              <a:rPr lang="en-US" sz="780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FreshCart</a:t>
            </a:r>
          </a:p>
          <a:p>
            <a:pPr algn="l">
              <a:lnSpc>
                <a:spcPts val="8190"/>
              </a:lnSpc>
            </a:pPr>
            <a:r>
              <a:rPr lang="en-US" sz="780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Cybersecurity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95400" y="4714875"/>
            <a:ext cx="1066800" cy="66675"/>
            <a:chOff x="0" y="0"/>
            <a:chExt cx="1422400" cy="889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22400" cy="88900"/>
            </a:xfrm>
            <a:custGeom>
              <a:avLst/>
              <a:gdLst/>
              <a:ahLst/>
              <a:cxnLst/>
              <a:rect r="r" b="b" t="t" l="l"/>
              <a:pathLst>
                <a:path h="88900" w="1422400">
                  <a:moveTo>
                    <a:pt x="0" y="0"/>
                  </a:moveTo>
                  <a:lnTo>
                    <a:pt x="1422400" y="0"/>
                  </a:lnTo>
                  <a:lnTo>
                    <a:pt x="14224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2D3EE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224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95400" y="4924425"/>
            <a:ext cx="8763000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>
                <a:solidFill>
                  <a:srgbClr val="F8FAF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Security Assessment &amp; Incident Investigation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6672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FRESHCART / SECURITY ASSESSMENT  •  02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01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Company &amp; Incident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523875"/>
            <a:ext cx="1238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2 / 20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1676400"/>
            <a:ext cx="16459200" cy="0"/>
          </a:xfrm>
          <a:prstGeom prst="line">
            <a:avLst/>
          </a:prstGeom>
          <a:ln cap="flat" w="19050">
            <a:solidFill>
              <a:srgbClr val="2444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" y="2190750"/>
            <a:ext cx="4953000" cy="2762250"/>
            <a:chOff x="0" y="0"/>
            <a:chExt cx="6604000" cy="3683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88900" cy="3683000"/>
              <a:chOff x="0" y="0"/>
              <a:chExt cx="88900" cy="3683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89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89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327025"/>
              <a:ext cx="584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CRITICAL ASSETS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885825"/>
              <a:ext cx="5842000" cy="177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E-commerce website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Internal servers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Employee workstations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Corporate email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057900" y="2190750"/>
            <a:ext cx="4953000" cy="2762250"/>
            <a:chOff x="0" y="0"/>
            <a:chExt cx="6604000" cy="3683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8900" cy="3683000"/>
              <a:chOff x="0" y="0"/>
              <a:chExt cx="88900" cy="3683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89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BBF2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89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000" y="327025"/>
              <a:ext cx="584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BF2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BUSINESS STAKES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1000" y="885825"/>
              <a:ext cx="5842000" cy="1327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Customer confidentiality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Operational continuity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Brand reputation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201400" y="2190750"/>
            <a:ext cx="6172200" cy="2762250"/>
            <a:chOff x="0" y="0"/>
            <a:chExt cx="8229600" cy="3683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8229600" cy="3683000"/>
              <a:chOff x="0" y="0"/>
              <a:chExt cx="8229600" cy="3683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2296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8229600">
                    <a:moveTo>
                      <a:pt x="0" y="0"/>
                    </a:moveTo>
                    <a:lnTo>
                      <a:pt x="8229600" y="0"/>
                    </a:lnTo>
                    <a:lnTo>
                      <a:pt x="82296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82296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88900" cy="3683000"/>
              <a:chOff x="0" y="0"/>
              <a:chExt cx="88900" cy="3683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89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889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81000" y="327025"/>
              <a:ext cx="74676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TRIGGER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81000" y="885825"/>
              <a:ext cx="74676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Suspicious password-expiration email to Finance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14400" y="5495925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OBSERVED SIGNALS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400" y="6238875"/>
            <a:ext cx="16459200" cy="389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925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FAILED AUTH  →  SUCCESSFUL LOGIN  →  FILE MODIFICATION  →  EXPOSED SERVICES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14400" y="7048500"/>
            <a:ext cx="16459200" cy="38100"/>
            <a:chOff x="0" y="0"/>
            <a:chExt cx="21945600" cy="50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0" cy="50800"/>
            </a:xfrm>
            <a:custGeom>
              <a:avLst/>
              <a:gdLst/>
              <a:ahLst/>
              <a:cxnLst/>
              <a:rect r="r" b="b" t="t" l="l"/>
              <a:pathLst>
                <a:path h="50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B7185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945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6672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FRESHCART / SECURITY ASSESSMENT  •  03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01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Network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523875"/>
            <a:ext cx="1238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3 / 20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1676400"/>
            <a:ext cx="16459200" cy="0"/>
          </a:xfrm>
          <a:prstGeom prst="line">
            <a:avLst/>
          </a:prstGeom>
          <a:ln cap="flat" w="19050">
            <a:solidFill>
              <a:srgbClr val="2444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" y="2190750"/>
            <a:ext cx="2857500" cy="6191250"/>
            <a:chOff x="0" y="0"/>
            <a:chExt cx="3810000" cy="825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12263A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171950" y="2190750"/>
            <a:ext cx="3143250" cy="6191250"/>
            <a:chOff x="0" y="0"/>
            <a:chExt cx="4191000" cy="825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91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11324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1910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715250" y="2190750"/>
            <a:ext cx="4095750" cy="6191250"/>
            <a:chOff x="0" y="0"/>
            <a:chExt cx="5461000" cy="825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61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5461000">
                  <a:moveTo>
                    <a:pt x="0" y="0"/>
                  </a:moveTo>
                  <a:lnTo>
                    <a:pt x="5461000" y="0"/>
                  </a:lnTo>
                  <a:lnTo>
                    <a:pt x="5461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102B3D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610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11050" y="2190750"/>
            <a:ext cx="5162550" cy="6191250"/>
            <a:chOff x="0" y="0"/>
            <a:chExt cx="6883400" cy="825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834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6883400">
                  <a:moveTo>
                    <a:pt x="0" y="0"/>
                  </a:moveTo>
                  <a:lnTo>
                    <a:pt x="6883400" y="0"/>
                  </a:lnTo>
                  <a:lnTo>
                    <a:pt x="68834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1028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8834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52525" y="2447925"/>
            <a:ext cx="2381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INTERNET / NAT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10075" y="2447925"/>
            <a:ext cx="2667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EDGE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953375" y="2447925"/>
            <a:ext cx="3619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DMZ • 192.168.50.0/24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49175" y="2447925"/>
            <a:ext cx="46863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LAN • 192.168.60.0/24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85875" y="4476750"/>
            <a:ext cx="2114550" cy="1428750"/>
            <a:chOff x="0" y="0"/>
            <a:chExt cx="2819400" cy="1905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2819400" cy="1905000"/>
              <a:chOff x="0" y="0"/>
              <a:chExt cx="2819400" cy="1905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8194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2819400">
                    <a:moveTo>
                      <a:pt x="0" y="0"/>
                    </a:moveTo>
                    <a:lnTo>
                      <a:pt x="2819400" y="0"/>
                    </a:lnTo>
                    <a:lnTo>
                      <a:pt x="28194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28194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0"/>
              <a:ext cx="88900" cy="1905000"/>
              <a:chOff x="0" y="0"/>
              <a:chExt cx="88900" cy="1905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89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889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81000" y="327025"/>
              <a:ext cx="20574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GATEWAY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81000" y="885825"/>
              <a:ext cx="20574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VMware NAT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572000" y="4095750"/>
            <a:ext cx="2343150" cy="2190750"/>
            <a:chOff x="0" y="0"/>
            <a:chExt cx="3124200" cy="2921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3124200" cy="2921000"/>
              <a:chOff x="0" y="0"/>
              <a:chExt cx="3124200" cy="2921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3124200" cy="2921000"/>
              </a:xfrm>
              <a:custGeom>
                <a:avLst/>
                <a:gdLst/>
                <a:ahLst/>
                <a:cxnLst/>
                <a:rect r="r" b="b" t="t" l="l"/>
                <a:pathLst>
                  <a:path h="2921000" w="3124200">
                    <a:moveTo>
                      <a:pt x="0" y="0"/>
                    </a:moveTo>
                    <a:lnTo>
                      <a:pt x="3124200" y="0"/>
                    </a:lnTo>
                    <a:lnTo>
                      <a:pt x="31242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3124200" cy="295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0"/>
              <a:ext cx="88900" cy="2921000"/>
              <a:chOff x="0" y="0"/>
              <a:chExt cx="88900" cy="29210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8900" cy="2921000"/>
              </a:xfrm>
              <a:custGeom>
                <a:avLst/>
                <a:gdLst/>
                <a:ahLst/>
                <a:cxnLst/>
                <a:rect r="r" b="b" t="t" l="l"/>
                <a:pathLst>
                  <a:path h="2921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88900" cy="295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381000" y="327025"/>
              <a:ext cx="23622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FIREWALL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381000" y="885825"/>
              <a:ext cx="23622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FreshCart-FW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pfSense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143875" y="4095750"/>
            <a:ext cx="3238500" cy="2190750"/>
            <a:chOff x="0" y="0"/>
            <a:chExt cx="4318000" cy="2921000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4318000" cy="2921000"/>
              <a:chOff x="0" y="0"/>
              <a:chExt cx="4318000" cy="29210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318000" cy="2921000"/>
              </a:xfrm>
              <a:custGeom>
                <a:avLst/>
                <a:gdLst/>
                <a:ahLst/>
                <a:cxnLst/>
                <a:rect r="r" b="b" t="t" l="l"/>
                <a:pathLst>
                  <a:path h="2921000" w="4318000">
                    <a:moveTo>
                      <a:pt x="0" y="0"/>
                    </a:moveTo>
                    <a:lnTo>
                      <a:pt x="4318000" y="0"/>
                    </a:lnTo>
                    <a:lnTo>
                      <a:pt x="4318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4318000" cy="295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0"/>
              <a:ext cx="88900" cy="2921000"/>
              <a:chOff x="0" y="0"/>
              <a:chExt cx="88900" cy="29210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8900" cy="2921000"/>
              </a:xfrm>
              <a:custGeom>
                <a:avLst/>
                <a:gdLst/>
                <a:ahLst/>
                <a:cxnLst/>
                <a:rect r="r" b="b" t="t" l="l"/>
                <a:pathLst>
                  <a:path h="2921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88900" cy="295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381000" y="327025"/>
              <a:ext cx="3556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PUBLIC SERVICE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381000" y="885825"/>
              <a:ext cx="35560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FreshCart-WEB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Ubuntu + Juice Shop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573000" y="3429000"/>
            <a:ext cx="4381500" cy="1333500"/>
            <a:chOff x="0" y="0"/>
            <a:chExt cx="5842000" cy="1778000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5842000" cy="1778000"/>
              <a:chOff x="0" y="0"/>
              <a:chExt cx="5842000" cy="17780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842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5842000">
                    <a:moveTo>
                      <a:pt x="0" y="0"/>
                    </a:moveTo>
                    <a:lnTo>
                      <a:pt x="5842000" y="0"/>
                    </a:lnTo>
                    <a:lnTo>
                      <a:pt x="5842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5842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0" y="0"/>
              <a:ext cx="88900" cy="1778000"/>
              <a:chOff x="0" y="0"/>
              <a:chExt cx="88900" cy="17780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89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38100"/>
                <a:ext cx="889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6" id="56"/>
            <p:cNvSpPr txBox="true"/>
            <p:nvPr/>
          </p:nvSpPr>
          <p:spPr>
            <a:xfrm rot="0">
              <a:off x="381000" y="327025"/>
              <a:ext cx="508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SERVER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381000" y="885825"/>
              <a:ext cx="5080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FreshCart-SRV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573000" y="5048250"/>
            <a:ext cx="2095500" cy="1714500"/>
            <a:chOff x="0" y="0"/>
            <a:chExt cx="2794000" cy="2286000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0" y="0"/>
              <a:ext cx="2794000" cy="2286000"/>
              <a:chOff x="0" y="0"/>
              <a:chExt cx="2794000" cy="22860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2794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2794000">
                    <a:moveTo>
                      <a:pt x="0" y="0"/>
                    </a:moveTo>
                    <a:lnTo>
                      <a:pt x="2794000" y="0"/>
                    </a:lnTo>
                    <a:lnTo>
                      <a:pt x="2794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38100"/>
                <a:ext cx="2794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0" y="0"/>
              <a:ext cx="88900" cy="2286000"/>
              <a:chOff x="0" y="0"/>
              <a:chExt cx="88900" cy="22860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889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BBF2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889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5" id="65"/>
            <p:cNvSpPr txBox="true"/>
            <p:nvPr/>
          </p:nvSpPr>
          <p:spPr>
            <a:xfrm rot="0">
              <a:off x="381000" y="327025"/>
              <a:ext cx="203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BF2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ENDPOINT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381000" y="885825"/>
              <a:ext cx="20320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PC01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Windows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859000" y="5048250"/>
            <a:ext cx="2095500" cy="1714500"/>
            <a:chOff x="0" y="0"/>
            <a:chExt cx="2794000" cy="2286000"/>
          </a:xfrm>
        </p:grpSpPr>
        <p:grpSp>
          <p:nvGrpSpPr>
            <p:cNvPr name="Group 68" id="68"/>
            <p:cNvGrpSpPr/>
            <p:nvPr/>
          </p:nvGrpSpPr>
          <p:grpSpPr>
            <a:xfrm rot="0">
              <a:off x="0" y="0"/>
              <a:ext cx="2794000" cy="2286000"/>
              <a:chOff x="0" y="0"/>
              <a:chExt cx="2794000" cy="22860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2794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2794000">
                    <a:moveTo>
                      <a:pt x="0" y="0"/>
                    </a:moveTo>
                    <a:lnTo>
                      <a:pt x="2794000" y="0"/>
                    </a:lnTo>
                    <a:lnTo>
                      <a:pt x="2794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38100"/>
                <a:ext cx="2794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0" y="0"/>
              <a:ext cx="88900" cy="2286000"/>
              <a:chOff x="0" y="0"/>
              <a:chExt cx="88900" cy="228600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889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38100"/>
                <a:ext cx="889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4" id="74"/>
            <p:cNvSpPr txBox="true"/>
            <p:nvPr/>
          </p:nvSpPr>
          <p:spPr>
            <a:xfrm rot="0">
              <a:off x="381000" y="327025"/>
              <a:ext cx="203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SECURITY</a:t>
              </a:r>
            </a:p>
          </p:txBody>
        </p:sp>
        <p:sp>
          <p:nvSpPr>
            <p:cNvPr name="TextBox 75" id="75"/>
            <p:cNvSpPr txBox="true"/>
            <p:nvPr/>
          </p:nvSpPr>
          <p:spPr>
            <a:xfrm rot="0">
              <a:off x="381000" y="885825"/>
              <a:ext cx="20320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SEC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Kali</a:t>
              </a:r>
            </a:p>
          </p:txBody>
        </p:sp>
      </p:grpSp>
      <p:sp>
        <p:nvSpPr>
          <p:cNvPr name="AutoShape 76" id="76"/>
          <p:cNvSpPr/>
          <p:nvPr/>
        </p:nvSpPr>
        <p:spPr>
          <a:xfrm>
            <a:off x="3400425" y="5191125"/>
            <a:ext cx="1171575" cy="0"/>
          </a:xfrm>
          <a:prstGeom prst="line">
            <a:avLst/>
          </a:prstGeom>
          <a:ln cap="rnd" w="47625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>
            <a:off x="6915150" y="5191125"/>
            <a:ext cx="1228725" cy="0"/>
          </a:xfrm>
          <a:prstGeom prst="line">
            <a:avLst/>
          </a:prstGeom>
          <a:ln cap="rnd" w="47625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flipV="true">
            <a:off x="11382375" y="4095750"/>
            <a:ext cx="1190625" cy="1095375"/>
          </a:xfrm>
          <a:prstGeom prst="line">
            <a:avLst/>
          </a:prstGeom>
          <a:ln cap="rnd" w="47625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6672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FRESHCART / SECURITY ASSESSMENT  •  04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01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Expected Security State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523875"/>
            <a:ext cx="1238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4 / 20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1676400"/>
            <a:ext cx="16459200" cy="0"/>
          </a:xfrm>
          <a:prstGeom prst="line">
            <a:avLst/>
          </a:prstGeom>
          <a:ln cap="flat" w="19050">
            <a:solidFill>
              <a:srgbClr val="2444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" y="2190750"/>
            <a:ext cx="5181600" cy="2381250"/>
            <a:chOff x="0" y="0"/>
            <a:chExt cx="6908800" cy="3175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908800" cy="3175000"/>
              <a:chOff x="0" y="0"/>
              <a:chExt cx="6908800" cy="3175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9088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6908800">
                    <a:moveTo>
                      <a:pt x="0" y="0"/>
                    </a:moveTo>
                    <a:lnTo>
                      <a:pt x="6908800" y="0"/>
                    </a:lnTo>
                    <a:lnTo>
                      <a:pt x="69088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9088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88900" cy="3175000"/>
              <a:chOff x="0" y="0"/>
              <a:chExt cx="88900" cy="3175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89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89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327025"/>
              <a:ext cx="61468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  BOUNDARIES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885825"/>
              <a:ext cx="61468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Strict firewall separation across Internet, DMZ and LAN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00800" y="2190750"/>
            <a:ext cx="5181600" cy="2381250"/>
            <a:chOff x="0" y="0"/>
            <a:chExt cx="6908800" cy="3175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908800" cy="3175000"/>
              <a:chOff x="0" y="0"/>
              <a:chExt cx="6908800" cy="3175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9088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6908800">
                    <a:moveTo>
                      <a:pt x="0" y="0"/>
                    </a:moveTo>
                    <a:lnTo>
                      <a:pt x="6908800" y="0"/>
                    </a:lnTo>
                    <a:lnTo>
                      <a:pt x="69088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9088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8900" cy="3175000"/>
              <a:chOff x="0" y="0"/>
              <a:chExt cx="88900" cy="3175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89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89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000" y="327025"/>
              <a:ext cx="61468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  ACCESS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1000" y="885825"/>
              <a:ext cx="61468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Least privilege via sudo rights and role-based permissions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887200" y="2190750"/>
            <a:ext cx="5181600" cy="2381250"/>
            <a:chOff x="0" y="0"/>
            <a:chExt cx="6908800" cy="3175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908800" cy="3175000"/>
              <a:chOff x="0" y="0"/>
              <a:chExt cx="6908800" cy="3175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9088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6908800">
                    <a:moveTo>
                      <a:pt x="0" y="0"/>
                    </a:moveTo>
                    <a:lnTo>
                      <a:pt x="6908800" y="0"/>
                    </a:lnTo>
                    <a:lnTo>
                      <a:pt x="69088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9088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88900" cy="3175000"/>
              <a:chOff x="0" y="0"/>
              <a:chExt cx="88900" cy="3175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89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889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81000" y="327025"/>
              <a:ext cx="61468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  AUTHENTICATION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81000" y="885825"/>
              <a:ext cx="61468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Valid credentials required and login attempts logged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5048250"/>
            <a:ext cx="5181600" cy="2381250"/>
            <a:chOff x="0" y="0"/>
            <a:chExt cx="6908800" cy="31750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6908800" cy="3175000"/>
              <a:chOff x="0" y="0"/>
              <a:chExt cx="6908800" cy="3175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9088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6908800">
                    <a:moveTo>
                      <a:pt x="0" y="0"/>
                    </a:moveTo>
                    <a:lnTo>
                      <a:pt x="6908800" y="0"/>
                    </a:lnTo>
                    <a:lnTo>
                      <a:pt x="69088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69088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0"/>
              <a:ext cx="88900" cy="3175000"/>
              <a:chOff x="0" y="0"/>
              <a:chExt cx="88900" cy="31750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89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889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81000" y="327025"/>
              <a:ext cx="61468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  HYGIENE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81000" y="885825"/>
              <a:ext cx="61468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Patch cadence and minimum service exposure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400800" y="5048250"/>
            <a:ext cx="5181600" cy="2381250"/>
            <a:chOff x="0" y="0"/>
            <a:chExt cx="6908800" cy="3175000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6908800" cy="3175000"/>
              <a:chOff x="0" y="0"/>
              <a:chExt cx="6908800" cy="31750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69088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6908800">
                    <a:moveTo>
                      <a:pt x="0" y="0"/>
                    </a:moveTo>
                    <a:lnTo>
                      <a:pt x="6908800" y="0"/>
                    </a:lnTo>
                    <a:lnTo>
                      <a:pt x="69088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69088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0"/>
              <a:ext cx="88900" cy="3175000"/>
              <a:chOff x="0" y="0"/>
              <a:chExt cx="88900" cy="31750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89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889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381000" y="327025"/>
              <a:ext cx="61468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05  DATA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381000" y="885825"/>
              <a:ext cx="61468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Restricted permissions plus hash-based integrity checks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6672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FRESHCART / SECURITY ASSESSMENT  •  05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01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Eight Fields. One Investigation.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523875"/>
            <a:ext cx="1238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5 / 20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1676400"/>
            <a:ext cx="16459200" cy="0"/>
          </a:xfrm>
          <a:prstGeom prst="line">
            <a:avLst/>
          </a:prstGeom>
          <a:ln cap="flat" w="19050">
            <a:solidFill>
              <a:srgbClr val="2444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" y="2143125"/>
            <a:ext cx="3810000" cy="2714625"/>
            <a:chOff x="0" y="0"/>
            <a:chExt cx="5080000" cy="36195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080000" cy="3619500"/>
              <a:chOff x="0" y="0"/>
              <a:chExt cx="5080000" cy="3619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0800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0800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88900" cy="3619500"/>
              <a:chOff x="0" y="0"/>
              <a:chExt cx="88900" cy="36195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89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89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327025"/>
              <a:ext cx="4318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  IDENTITY &amp; ACCESS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885825"/>
              <a:ext cx="4318000" cy="177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OWNER: Abdelrahman Ahmed</a:t>
              </a:r>
            </a:p>
            <a:p>
              <a:pPr algn="l">
                <a:lnSpc>
                  <a:spcPts val="2632"/>
                </a:lnSpc>
              </a:pP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Accounts, sudo rights, least privilege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029200" y="2143125"/>
            <a:ext cx="3810000" cy="2714625"/>
            <a:chOff x="0" y="0"/>
            <a:chExt cx="5080000" cy="36195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080000" cy="3619500"/>
              <a:chOff x="0" y="0"/>
              <a:chExt cx="5080000" cy="3619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0800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50800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8900" cy="3619500"/>
              <a:chOff x="0" y="0"/>
              <a:chExt cx="88900" cy="3619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89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89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000" y="327025"/>
              <a:ext cx="4318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  NETWORK SECURITY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1000" y="885825"/>
              <a:ext cx="4318000" cy="177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OWNER: Mahmoud Ahmed</a:t>
              </a:r>
            </a:p>
            <a:p>
              <a:pPr algn="l">
                <a:lnSpc>
                  <a:spcPts val="2632"/>
                </a:lnSpc>
              </a:pP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Segmentation, firewall, traffic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0" y="2143125"/>
            <a:ext cx="3810000" cy="2714625"/>
            <a:chOff x="0" y="0"/>
            <a:chExt cx="5080000" cy="36195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5080000" cy="3619500"/>
              <a:chOff x="0" y="0"/>
              <a:chExt cx="5080000" cy="36195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50800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50800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88900" cy="3619500"/>
              <a:chOff x="0" y="0"/>
              <a:chExt cx="88900" cy="36195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89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889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81000" y="327025"/>
              <a:ext cx="4318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  DATA SECURITY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81000" y="885825"/>
              <a:ext cx="4318000" cy="177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OWNER: Abdelrahman Ahmed</a:t>
              </a:r>
            </a:p>
            <a:p>
              <a:pPr algn="l">
                <a:lnSpc>
                  <a:spcPts val="2632"/>
                </a:lnSpc>
              </a:pP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Permissions, integrity, hashing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258800" y="2143125"/>
            <a:ext cx="3810000" cy="2714625"/>
            <a:chOff x="0" y="0"/>
            <a:chExt cx="5080000" cy="36195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5080000" cy="3619500"/>
              <a:chOff x="0" y="0"/>
              <a:chExt cx="5080000" cy="36195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50800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50800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0"/>
              <a:ext cx="88900" cy="3619500"/>
              <a:chOff x="0" y="0"/>
              <a:chExt cx="88900" cy="36195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89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889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81000" y="327025"/>
              <a:ext cx="4318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  WEB APPLICATION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81000" y="885825"/>
              <a:ext cx="4318000" cy="177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OWNER: Team</a:t>
              </a:r>
            </a:p>
            <a:p>
              <a:pPr algn="l">
                <a:lnSpc>
                  <a:spcPts val="2632"/>
                </a:lnSpc>
              </a:pP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OWASP testing, secure code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14400" y="5286375"/>
            <a:ext cx="3810000" cy="2714625"/>
            <a:chOff x="0" y="0"/>
            <a:chExt cx="5080000" cy="3619500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5080000" cy="3619500"/>
              <a:chOff x="0" y="0"/>
              <a:chExt cx="5080000" cy="36195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50800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50800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0"/>
              <a:ext cx="88900" cy="3619500"/>
              <a:chOff x="0" y="0"/>
              <a:chExt cx="88900" cy="36195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89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889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381000" y="327025"/>
              <a:ext cx="4318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05  EMAIL &amp; PHISHING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381000" y="885825"/>
              <a:ext cx="4318000" cy="177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OWNER: Ali Sayed Ali</a:t>
              </a:r>
            </a:p>
            <a:p>
              <a:pPr algn="l">
                <a:lnSpc>
                  <a:spcPts val="2632"/>
                </a:lnSpc>
              </a:pP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Filtering, scoring, awareness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029200" y="5286375"/>
            <a:ext cx="3810000" cy="2714625"/>
            <a:chOff x="0" y="0"/>
            <a:chExt cx="5080000" cy="36195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5080000" cy="3619500"/>
              <a:chOff x="0" y="0"/>
              <a:chExt cx="5080000" cy="36195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50800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50800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0"/>
              <a:ext cx="88900" cy="3619500"/>
              <a:chOff x="0" y="0"/>
              <a:chExt cx="88900" cy="36195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89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889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381000" y="327025"/>
              <a:ext cx="4318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06  VULNERABILITY MGMT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381000" y="885825"/>
              <a:ext cx="4318000" cy="177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OWNER: Team</a:t>
              </a:r>
            </a:p>
            <a:p>
              <a:pPr algn="l">
                <a:lnSpc>
                  <a:spcPts val="2632"/>
                </a:lnSpc>
              </a:pP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Scanning, validation, prioritization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144000" y="5286375"/>
            <a:ext cx="3810000" cy="2714625"/>
            <a:chOff x="0" y="0"/>
            <a:chExt cx="5080000" cy="3619500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5080000" cy="3619500"/>
              <a:chOff x="0" y="0"/>
              <a:chExt cx="5080000" cy="36195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50800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50800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0" y="0"/>
              <a:ext cx="88900" cy="3619500"/>
              <a:chOff x="0" y="0"/>
              <a:chExt cx="88900" cy="36195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89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38100"/>
                <a:ext cx="889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381000" y="327025"/>
              <a:ext cx="4318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07  ENDPOINT SECURITY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381000" y="885825"/>
              <a:ext cx="4318000" cy="177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OWNER: Hosney Mahmoud</a:t>
              </a:r>
            </a:p>
            <a:p>
              <a:pPr algn="l">
                <a:lnSpc>
                  <a:spcPts val="2632"/>
                </a:lnSpc>
              </a:pP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Audit logging, Defender, hardening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258800" y="5286375"/>
            <a:ext cx="3810000" cy="2714625"/>
            <a:chOff x="0" y="0"/>
            <a:chExt cx="5080000" cy="36195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5080000" cy="3619500"/>
              <a:chOff x="0" y="0"/>
              <a:chExt cx="5080000" cy="361950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50800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38100"/>
                <a:ext cx="50800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0"/>
              <a:ext cx="88900" cy="3619500"/>
              <a:chOff x="0" y="0"/>
              <a:chExt cx="88900" cy="3619500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889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38100"/>
                <a:ext cx="889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6" id="76"/>
            <p:cNvSpPr txBox="true"/>
            <p:nvPr/>
          </p:nvSpPr>
          <p:spPr>
            <a:xfrm rot="0">
              <a:off x="381000" y="336550"/>
              <a:ext cx="4318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spc="15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08  INCIDENT RESPONSE / SOC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381000" y="885825"/>
              <a:ext cx="4318000" cy="177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OWNER: Ibrahim Helmy</a:t>
              </a:r>
            </a:p>
            <a:p>
              <a:pPr algn="l">
                <a:lnSpc>
                  <a:spcPts val="2632"/>
                </a:lnSpc>
              </a:pP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Correlation, triage, containment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6672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FRESHCART / SECURITY ASSESSMENT  •  06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01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Identity &amp; Access Security Finding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523875"/>
            <a:ext cx="1238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6 / 20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1676400"/>
            <a:ext cx="16459200" cy="0"/>
          </a:xfrm>
          <a:prstGeom prst="line">
            <a:avLst/>
          </a:prstGeom>
          <a:ln cap="flat" w="19050">
            <a:solidFill>
              <a:srgbClr val="2444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" y="2095500"/>
            <a:ext cx="7524750" cy="1562100"/>
            <a:chOff x="0" y="0"/>
            <a:chExt cx="10033000" cy="20828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033000" cy="2082800"/>
              <a:chOff x="0" y="0"/>
              <a:chExt cx="10033000" cy="208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0330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0330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88900" cy="2082800"/>
              <a:chOff x="0" y="0"/>
              <a:chExt cx="88900" cy="208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89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89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327025"/>
              <a:ext cx="9271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SECURITY QUESTION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885825"/>
              <a:ext cx="92710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Does itadmin actually have the admin access its role assumes?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96350" y="2095500"/>
            <a:ext cx="8477250" cy="1562100"/>
            <a:chOff x="0" y="0"/>
            <a:chExt cx="11303000" cy="2082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303000" cy="2082800"/>
              <a:chOff x="0" y="0"/>
              <a:chExt cx="11303000" cy="208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3030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11303000">
                    <a:moveTo>
                      <a:pt x="0" y="0"/>
                    </a:moveTo>
                    <a:lnTo>
                      <a:pt x="11303000" y="0"/>
                    </a:lnTo>
                    <a:lnTo>
                      <a:pt x="113030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13030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8900" cy="2082800"/>
              <a:chOff x="0" y="0"/>
              <a:chExt cx="88900" cy="208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89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FBBF2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89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000" y="327025"/>
              <a:ext cx="10541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BF2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EVIDENCE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1000" y="885825"/>
              <a:ext cx="10541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groups itadmin showed no sudo membership before the fix.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3905250"/>
            <a:ext cx="4953000" cy="2038350"/>
            <a:chOff x="0" y="0"/>
            <a:chExt cx="6604000" cy="27178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604000" cy="2717800"/>
              <a:chOff x="0" y="0"/>
              <a:chExt cx="6604000" cy="2717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6040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6040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81000" y="327025"/>
              <a:ext cx="584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FINDING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81000" y="885825"/>
              <a:ext cx="58420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IAM-01: itadmin had no real administrative privilege.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219700" y="3905250"/>
            <a:ext cx="4953000" cy="2038350"/>
            <a:chOff x="0" y="0"/>
            <a:chExt cx="6604000" cy="27178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6604000" cy="2717800"/>
              <a:chOff x="0" y="0"/>
              <a:chExt cx="6604000" cy="2717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6040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66040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81000" y="327025"/>
              <a:ext cx="584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BUSINESS RISK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81000" y="885825"/>
              <a:ext cx="58420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Breaks accountability; pushes staff toward shared accounts.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439400" y="3905250"/>
            <a:ext cx="6934200" cy="2038350"/>
            <a:chOff x="0" y="0"/>
            <a:chExt cx="9245600" cy="2717800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9245600" cy="2717800"/>
              <a:chOff x="0" y="0"/>
              <a:chExt cx="9245600" cy="2717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92456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9245600">
                    <a:moveTo>
                      <a:pt x="0" y="0"/>
                    </a:moveTo>
                    <a:lnTo>
                      <a:pt x="9245600" y="0"/>
                    </a:lnTo>
                    <a:lnTo>
                      <a:pt x="92456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92456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381000" y="327025"/>
              <a:ext cx="84836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RECOMMENDED CONTROL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381000" y="885825"/>
              <a:ext cx="84836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Add itadmin to sudo group; keep least privilege elsewhere.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14400" y="6191250"/>
            <a:ext cx="10287000" cy="2419350"/>
            <a:chOff x="0" y="0"/>
            <a:chExt cx="13716000" cy="32258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13716000" cy="3225800"/>
              <a:chOff x="0" y="0"/>
              <a:chExt cx="13716000" cy="32258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37160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13716000">
                    <a:moveTo>
                      <a:pt x="0" y="0"/>
                    </a:moveTo>
                    <a:lnTo>
                      <a:pt x="13716000" y="0"/>
                    </a:lnTo>
                    <a:lnTo>
                      <a:pt x="137160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137160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0"/>
              <a:ext cx="88900" cy="3225800"/>
              <a:chOff x="0" y="0"/>
              <a:chExt cx="88900" cy="3225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89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889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381000" y="327025"/>
              <a:ext cx="12954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REMEDIATION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381000" y="885825"/>
              <a:ext cx="12954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usermod -aG sudo itadmin — sudo added, no extra data access.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553700" y="6191250"/>
            <a:ext cx="6819900" cy="2419350"/>
            <a:chOff x="0" y="0"/>
            <a:chExt cx="9093200" cy="3225800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9093200" cy="3225800"/>
              <a:chOff x="0" y="0"/>
              <a:chExt cx="9093200" cy="32258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90932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9093200">
                    <a:moveTo>
                      <a:pt x="0" y="0"/>
                    </a:moveTo>
                    <a:lnTo>
                      <a:pt x="9093200" y="0"/>
                    </a:lnTo>
                    <a:lnTo>
                      <a:pt x="90932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90932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0" y="0"/>
              <a:ext cx="88900" cy="3225800"/>
              <a:chOff x="0" y="0"/>
              <a:chExt cx="88900" cy="3225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89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38100"/>
                <a:ext cx="889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381000" y="327025"/>
              <a:ext cx="83312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RETEST RESULT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381000" y="885825"/>
              <a:ext cx="83312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itadmin has sudo now; still denied /company/finance access.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6672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FRESHCART / SECURITY ASSESSMENT  •  07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01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Network Security Finding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523875"/>
            <a:ext cx="1238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7 / 20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1676400"/>
            <a:ext cx="16459200" cy="0"/>
          </a:xfrm>
          <a:prstGeom prst="line">
            <a:avLst/>
          </a:prstGeom>
          <a:ln cap="flat" w="19050">
            <a:solidFill>
              <a:srgbClr val="2444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" y="2095500"/>
            <a:ext cx="7524750" cy="1562100"/>
            <a:chOff x="0" y="0"/>
            <a:chExt cx="10033000" cy="20828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033000" cy="2082800"/>
              <a:chOff x="0" y="0"/>
              <a:chExt cx="10033000" cy="208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0330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0330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88900" cy="2082800"/>
              <a:chOff x="0" y="0"/>
              <a:chExt cx="88900" cy="208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89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89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327025"/>
              <a:ext cx="9271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SECURITY QUESTION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885825"/>
              <a:ext cx="9271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Does the firewall isolate the DMZ from the internal LAN?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96350" y="2095500"/>
            <a:ext cx="8477250" cy="1562100"/>
            <a:chOff x="0" y="0"/>
            <a:chExt cx="11303000" cy="2082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303000" cy="2082800"/>
              <a:chOff x="0" y="0"/>
              <a:chExt cx="11303000" cy="208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3030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11303000">
                    <a:moveTo>
                      <a:pt x="0" y="0"/>
                    </a:moveTo>
                    <a:lnTo>
                      <a:pt x="11303000" y="0"/>
                    </a:lnTo>
                    <a:lnTo>
                      <a:pt x="113030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13030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8900" cy="2082800"/>
              <a:chOff x="0" y="0"/>
              <a:chExt cx="88900" cy="208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89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FBBF2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89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000" y="327025"/>
              <a:ext cx="10541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BF2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EVIDENCE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1000" y="885825"/>
              <a:ext cx="10541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Ping from WEB (DMZ) reached SRV (LAN): 0% packet loss.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3905250"/>
            <a:ext cx="4953000" cy="2038350"/>
            <a:chOff x="0" y="0"/>
            <a:chExt cx="6604000" cy="27178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604000" cy="2717800"/>
              <a:chOff x="0" y="0"/>
              <a:chExt cx="6604000" cy="2717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6040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6040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81000" y="327025"/>
              <a:ext cx="584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FINDING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81000" y="885825"/>
              <a:ext cx="58420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NET-01: DMZ was not isolated from the Internal LAN.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219700" y="3905250"/>
            <a:ext cx="4953000" cy="2038350"/>
            <a:chOff x="0" y="0"/>
            <a:chExt cx="6604000" cy="27178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6604000" cy="2717800"/>
              <a:chOff x="0" y="0"/>
              <a:chExt cx="6604000" cy="2717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6040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66040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81000" y="327025"/>
              <a:ext cx="584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BUSINESS RISK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81000" y="885825"/>
              <a:ext cx="58420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A compromised Juice Shop could reach SRV’s company data.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439400" y="3905250"/>
            <a:ext cx="6934200" cy="2038350"/>
            <a:chOff x="0" y="0"/>
            <a:chExt cx="9245600" cy="2717800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9245600" cy="2717800"/>
              <a:chOff x="0" y="0"/>
              <a:chExt cx="9245600" cy="2717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92456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9245600">
                    <a:moveTo>
                      <a:pt x="0" y="0"/>
                    </a:moveTo>
                    <a:lnTo>
                      <a:pt x="9245600" y="0"/>
                    </a:lnTo>
                    <a:lnTo>
                      <a:pt x="92456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92456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381000" y="327025"/>
              <a:ext cx="84836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RECOMMENDED CONTROL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381000" y="885825"/>
              <a:ext cx="84836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Explicit firewall rule blocking DMZ-to-LAN traffic.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14400" y="6191250"/>
            <a:ext cx="10287000" cy="2419350"/>
            <a:chOff x="0" y="0"/>
            <a:chExt cx="13716000" cy="32258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13716000" cy="3225800"/>
              <a:chOff x="0" y="0"/>
              <a:chExt cx="13716000" cy="32258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37160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13716000">
                    <a:moveTo>
                      <a:pt x="0" y="0"/>
                    </a:moveTo>
                    <a:lnTo>
                      <a:pt x="13716000" y="0"/>
                    </a:lnTo>
                    <a:lnTo>
                      <a:pt x="137160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137160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0"/>
              <a:ext cx="88900" cy="3225800"/>
              <a:chOff x="0" y="0"/>
              <a:chExt cx="88900" cy="3225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89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889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381000" y="327025"/>
              <a:ext cx="12954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REMEDIATION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381000" y="885825"/>
              <a:ext cx="12954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Added an OPT1 block rule above the allow-outbound rule.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553700" y="6191250"/>
            <a:ext cx="6819900" cy="2419350"/>
            <a:chOff x="0" y="0"/>
            <a:chExt cx="9093200" cy="3225800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9093200" cy="3225800"/>
              <a:chOff x="0" y="0"/>
              <a:chExt cx="9093200" cy="32258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90932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9093200">
                    <a:moveTo>
                      <a:pt x="0" y="0"/>
                    </a:moveTo>
                    <a:lnTo>
                      <a:pt x="9093200" y="0"/>
                    </a:lnTo>
                    <a:lnTo>
                      <a:pt x="90932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90932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0" y="0"/>
              <a:ext cx="88900" cy="3225800"/>
              <a:chOff x="0" y="0"/>
              <a:chExt cx="88900" cy="3225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89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38100"/>
                <a:ext cx="889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381000" y="327025"/>
              <a:ext cx="83312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RETEST RESULT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381000" y="885825"/>
              <a:ext cx="83312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Same ping now 100% packet loss — DMZ-to-LAN blocked.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6672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FRESHCART / SECURITY ASSESSMENT  •  08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01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Security Finding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523875"/>
            <a:ext cx="1238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8 / 20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1676400"/>
            <a:ext cx="16459200" cy="0"/>
          </a:xfrm>
          <a:prstGeom prst="line">
            <a:avLst/>
          </a:prstGeom>
          <a:ln cap="flat" w="19050">
            <a:solidFill>
              <a:srgbClr val="2444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" y="2095500"/>
            <a:ext cx="7524750" cy="1562100"/>
            <a:chOff x="0" y="0"/>
            <a:chExt cx="10033000" cy="20828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033000" cy="2082800"/>
              <a:chOff x="0" y="0"/>
              <a:chExt cx="10033000" cy="208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0330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0330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88900" cy="2082800"/>
              <a:chOff x="0" y="0"/>
              <a:chExt cx="88900" cy="208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89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89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327025"/>
              <a:ext cx="9271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SECURITY QUESTION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885825"/>
              <a:ext cx="92710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Can an unauthorized account read sensitive customer data?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96350" y="2095500"/>
            <a:ext cx="8477250" cy="1562100"/>
            <a:chOff x="0" y="0"/>
            <a:chExt cx="11303000" cy="2082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303000" cy="2082800"/>
              <a:chOff x="0" y="0"/>
              <a:chExt cx="11303000" cy="208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3030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11303000">
                    <a:moveTo>
                      <a:pt x="0" y="0"/>
                    </a:moveTo>
                    <a:lnTo>
                      <a:pt x="11303000" y="0"/>
                    </a:lnTo>
                    <a:lnTo>
                      <a:pt x="113030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13030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8900" cy="2082800"/>
              <a:chOff x="0" y="0"/>
              <a:chExt cx="88900" cy="208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89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FBBF2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89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000" y="327025"/>
              <a:ext cx="10541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BF2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EVIDENCE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1000" y="885825"/>
              <a:ext cx="10541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employee01 could read the full customers.csv file.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3905250"/>
            <a:ext cx="4953000" cy="2038350"/>
            <a:chOff x="0" y="0"/>
            <a:chExt cx="6604000" cy="27178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604000" cy="2717800"/>
              <a:chOff x="0" y="0"/>
              <a:chExt cx="6604000" cy="2717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6040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6040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81000" y="327025"/>
              <a:ext cx="584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FINDING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81000" y="885825"/>
              <a:ext cx="58420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DATA-01: customer data was readable by any local account.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219700" y="3905250"/>
            <a:ext cx="4953000" cy="2038350"/>
            <a:chOff x="0" y="0"/>
            <a:chExt cx="6604000" cy="27178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6604000" cy="2717800"/>
              <a:chOff x="0" y="0"/>
              <a:chExt cx="6604000" cy="2717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6040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66040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81000" y="327025"/>
              <a:ext cx="584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BUSINESS RISK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81000" y="885825"/>
              <a:ext cx="58420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Full customer PII exposed to accounts with no need for it.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439400" y="3905250"/>
            <a:ext cx="6934200" cy="2038350"/>
            <a:chOff x="0" y="0"/>
            <a:chExt cx="9245600" cy="2717800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9245600" cy="2717800"/>
              <a:chOff x="0" y="0"/>
              <a:chExt cx="9245600" cy="2717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92456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9245600">
                    <a:moveTo>
                      <a:pt x="0" y="0"/>
                    </a:moveTo>
                    <a:lnTo>
                      <a:pt x="9245600" y="0"/>
                    </a:lnTo>
                    <a:lnTo>
                      <a:pt x="92456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92456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381000" y="327025"/>
              <a:ext cx="84836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RECOMMENDED CONTROL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381000" y="885825"/>
              <a:ext cx="84836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Restrict file ownership/permissions to authorized roles.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14400" y="6191250"/>
            <a:ext cx="10287000" cy="2419350"/>
            <a:chOff x="0" y="0"/>
            <a:chExt cx="13716000" cy="32258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13716000" cy="3225800"/>
              <a:chOff x="0" y="0"/>
              <a:chExt cx="13716000" cy="32258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37160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13716000">
                    <a:moveTo>
                      <a:pt x="0" y="0"/>
                    </a:moveTo>
                    <a:lnTo>
                      <a:pt x="13716000" y="0"/>
                    </a:lnTo>
                    <a:lnTo>
                      <a:pt x="137160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137160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0"/>
              <a:ext cx="88900" cy="3225800"/>
              <a:chOff x="0" y="0"/>
              <a:chExt cx="88900" cy="3225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89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889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381000" y="327025"/>
              <a:ext cx="12954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REMEDIATION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381000" y="885825"/>
              <a:ext cx="12954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chown itadmin + chmod 640 on customers.csv.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553700" y="6191250"/>
            <a:ext cx="6819900" cy="2419350"/>
            <a:chOff x="0" y="0"/>
            <a:chExt cx="9093200" cy="3225800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9093200" cy="3225800"/>
              <a:chOff x="0" y="0"/>
              <a:chExt cx="9093200" cy="32258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90932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9093200">
                    <a:moveTo>
                      <a:pt x="0" y="0"/>
                    </a:moveTo>
                    <a:lnTo>
                      <a:pt x="9093200" y="0"/>
                    </a:lnTo>
                    <a:lnTo>
                      <a:pt x="90932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90932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0" y="0"/>
              <a:ext cx="88900" cy="3225800"/>
              <a:chOff x="0" y="0"/>
              <a:chExt cx="88900" cy="3225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89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38100"/>
                <a:ext cx="889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381000" y="327025"/>
              <a:ext cx="83312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RETEST RESULT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381000" y="885825"/>
              <a:ext cx="83312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employee01 now gets "Permission denied."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6672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FRESHCART / SECURITY ASSESSMENT  •  09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01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Web Application Security Finding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523875"/>
            <a:ext cx="1238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9 / 20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1676400"/>
            <a:ext cx="16459200" cy="0"/>
          </a:xfrm>
          <a:prstGeom prst="line">
            <a:avLst/>
          </a:prstGeom>
          <a:ln cap="flat" w="19050">
            <a:solidFill>
              <a:srgbClr val="2444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" y="2095500"/>
            <a:ext cx="7524750" cy="1562100"/>
            <a:chOff x="0" y="0"/>
            <a:chExt cx="10033000" cy="20828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033000" cy="2082800"/>
              <a:chOff x="0" y="0"/>
              <a:chExt cx="10033000" cy="208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0330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0330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88900" cy="2082800"/>
              <a:chOff x="0" y="0"/>
              <a:chExt cx="88900" cy="208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89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89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327025"/>
              <a:ext cx="9271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SECURITY QUESTION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885825"/>
              <a:ext cx="9271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Is the Juice Shop login protected against SQL injection?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96350" y="2095500"/>
            <a:ext cx="8477250" cy="1562100"/>
            <a:chOff x="0" y="0"/>
            <a:chExt cx="11303000" cy="2082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303000" cy="2082800"/>
              <a:chOff x="0" y="0"/>
              <a:chExt cx="11303000" cy="208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3030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11303000">
                    <a:moveTo>
                      <a:pt x="0" y="0"/>
                    </a:moveTo>
                    <a:lnTo>
                      <a:pt x="11303000" y="0"/>
                    </a:lnTo>
                    <a:lnTo>
                      <a:pt x="113030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13030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8900" cy="2082800"/>
              <a:chOff x="0" y="0"/>
              <a:chExt cx="88900" cy="208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89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FBBF2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89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000" y="327025"/>
              <a:ext cx="10541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BF2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EVIDENCE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1000" y="885825"/>
              <a:ext cx="10541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email: admin@juice-sh.op -- , password: x — login succeeded.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3905250"/>
            <a:ext cx="4953000" cy="2038350"/>
            <a:chOff x="0" y="0"/>
            <a:chExt cx="6604000" cy="27178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604000" cy="2717800"/>
              <a:chOff x="0" y="0"/>
              <a:chExt cx="6604000" cy="2717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6040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6040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81000" y="327025"/>
              <a:ext cx="584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FINDING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81000" y="885825"/>
              <a:ext cx="58420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WEB-03 (Critical): SQLi grants admin login, no password needed.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219700" y="3905250"/>
            <a:ext cx="4953000" cy="2038350"/>
            <a:chOff x="0" y="0"/>
            <a:chExt cx="6604000" cy="27178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6604000" cy="2717800"/>
              <a:chOff x="0" y="0"/>
              <a:chExt cx="6604000" cy="2717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6040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66040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81000" y="327025"/>
              <a:ext cx="584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BUSINESS RISK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81000" y="885825"/>
              <a:ext cx="58420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Full admin takeover of the public web application.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439400" y="3905250"/>
            <a:ext cx="6934200" cy="2038350"/>
            <a:chOff x="0" y="0"/>
            <a:chExt cx="9245600" cy="2717800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9245600" cy="2717800"/>
              <a:chOff x="0" y="0"/>
              <a:chExt cx="9245600" cy="2717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92456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9245600">
                    <a:moveTo>
                      <a:pt x="0" y="0"/>
                    </a:moveTo>
                    <a:lnTo>
                      <a:pt x="9245600" y="0"/>
                    </a:lnTo>
                    <a:lnTo>
                      <a:pt x="92456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92456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381000" y="327025"/>
              <a:ext cx="84836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RECOMMENDED CONTROL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381000" y="885825"/>
              <a:ext cx="84836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Parameterized queries / ORM instead of string concatenation.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14400" y="6191250"/>
            <a:ext cx="10287000" cy="2419350"/>
            <a:chOff x="0" y="0"/>
            <a:chExt cx="13716000" cy="32258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13716000" cy="3225800"/>
              <a:chOff x="0" y="0"/>
              <a:chExt cx="13716000" cy="32258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37160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13716000">
                    <a:moveTo>
                      <a:pt x="0" y="0"/>
                    </a:moveTo>
                    <a:lnTo>
                      <a:pt x="13716000" y="0"/>
                    </a:lnTo>
                    <a:lnTo>
                      <a:pt x="137160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137160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0"/>
              <a:ext cx="88900" cy="3225800"/>
              <a:chOff x="0" y="0"/>
              <a:chExt cx="88900" cy="3225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89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889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381000" y="327025"/>
              <a:ext cx="12954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REMEDIATION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381000" y="885825"/>
              <a:ext cx="12954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Open — fix requires editing Juice Shop’s own source code.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553700" y="6191250"/>
            <a:ext cx="6819900" cy="2419350"/>
            <a:chOff x="0" y="0"/>
            <a:chExt cx="9093200" cy="3225800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9093200" cy="3225800"/>
              <a:chOff x="0" y="0"/>
              <a:chExt cx="9093200" cy="32258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90932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9093200">
                    <a:moveTo>
                      <a:pt x="0" y="0"/>
                    </a:moveTo>
                    <a:lnTo>
                      <a:pt x="9093200" y="0"/>
                    </a:lnTo>
                    <a:lnTo>
                      <a:pt x="90932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90932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0" y="0"/>
              <a:ext cx="88900" cy="3225800"/>
              <a:chOff x="0" y="0"/>
              <a:chExt cx="88900" cy="3225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89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38100"/>
                <a:ext cx="889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381000" y="327025"/>
              <a:ext cx="83312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RETEST RESULT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381000" y="885825"/>
              <a:ext cx="83312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Not yet retested — remains FreshCart’s #1 organizational risk.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6672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FRESHCART / SECURITY ASSESSMENT  •  10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01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Email &amp; Phishing Security Finding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523875"/>
            <a:ext cx="1238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10 / 20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1676400"/>
            <a:ext cx="16459200" cy="0"/>
          </a:xfrm>
          <a:prstGeom prst="line">
            <a:avLst/>
          </a:prstGeom>
          <a:ln cap="flat" w="19050">
            <a:solidFill>
              <a:srgbClr val="2444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" y="2095500"/>
            <a:ext cx="7524750" cy="1562100"/>
            <a:chOff x="0" y="0"/>
            <a:chExt cx="10033000" cy="20828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033000" cy="2082800"/>
              <a:chOff x="0" y="0"/>
              <a:chExt cx="10033000" cy="208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0330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0330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88900" cy="2082800"/>
              <a:chOff x="0" y="0"/>
              <a:chExt cx="88900" cy="208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89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89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327025"/>
              <a:ext cx="9271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SECURITY QUESTION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885825"/>
              <a:ext cx="9271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Are users resilient to a targeted phishing email?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96350" y="2095500"/>
            <a:ext cx="8477250" cy="1562100"/>
            <a:chOff x="0" y="0"/>
            <a:chExt cx="11303000" cy="2082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303000" cy="2082800"/>
              <a:chOff x="0" y="0"/>
              <a:chExt cx="11303000" cy="208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3030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11303000">
                    <a:moveTo>
                      <a:pt x="0" y="0"/>
                    </a:moveTo>
                    <a:lnTo>
                      <a:pt x="11303000" y="0"/>
                    </a:lnTo>
                    <a:lnTo>
                      <a:pt x="113030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13030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8900" cy="2082800"/>
              <a:chOff x="0" y="0"/>
              <a:chExt cx="88900" cy="208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89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FBBF2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89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000" y="327025"/>
              <a:ext cx="10541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BF2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EVIDENCE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1000" y="885825"/>
              <a:ext cx="10541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Lookalike-domain email to finance01 scored 100/100.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3905250"/>
            <a:ext cx="4953000" cy="2038350"/>
            <a:chOff x="0" y="0"/>
            <a:chExt cx="6604000" cy="27178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604000" cy="2717800"/>
              <a:chOff x="0" y="0"/>
              <a:chExt cx="6604000" cy="2717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6040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6040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81000" y="327025"/>
              <a:ext cx="584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FINDING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81000" y="885825"/>
              <a:ext cx="58420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EV-01: high-confidence phishing lure to Finance.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219700" y="3905250"/>
            <a:ext cx="4953000" cy="2038350"/>
            <a:chOff x="0" y="0"/>
            <a:chExt cx="6604000" cy="27178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6604000" cy="2717800"/>
              <a:chOff x="0" y="0"/>
              <a:chExt cx="6604000" cy="2717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6040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66040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81000" y="327025"/>
              <a:ext cx="584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BUSINESS RISK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81000" y="885825"/>
              <a:ext cx="58420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Credential theft on the account with Finance-data access.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439400" y="3905250"/>
            <a:ext cx="6934200" cy="2038350"/>
            <a:chOff x="0" y="0"/>
            <a:chExt cx="9245600" cy="2717800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9245600" cy="2717800"/>
              <a:chOff x="0" y="0"/>
              <a:chExt cx="9245600" cy="2717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92456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9245600">
                    <a:moveTo>
                      <a:pt x="0" y="0"/>
                    </a:moveTo>
                    <a:lnTo>
                      <a:pt x="9245600" y="0"/>
                    </a:lnTo>
                    <a:lnTo>
                      <a:pt x="92456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92456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381000" y="327025"/>
              <a:ext cx="84836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RECOMMENDED CONTROL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381000" y="885825"/>
              <a:ext cx="84836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Domain/DMARC checks and a report-phishing procedure.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14400" y="6191250"/>
            <a:ext cx="10287000" cy="2419350"/>
            <a:chOff x="0" y="0"/>
            <a:chExt cx="13716000" cy="32258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13716000" cy="3225800"/>
              <a:chOff x="0" y="0"/>
              <a:chExt cx="13716000" cy="32258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37160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13716000">
                    <a:moveTo>
                      <a:pt x="0" y="0"/>
                    </a:moveTo>
                    <a:lnTo>
                      <a:pt x="13716000" y="0"/>
                    </a:lnTo>
                    <a:lnTo>
                      <a:pt x="137160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137160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0"/>
              <a:ext cx="88900" cy="3225800"/>
              <a:chOff x="0" y="0"/>
              <a:chExt cx="88900" cy="3225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89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889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381000" y="327025"/>
              <a:ext cx="12954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REMEDIATION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381000" y="885825"/>
              <a:ext cx="12954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Scoring model built; controls documented, not yet deployed.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553700" y="6191250"/>
            <a:ext cx="6819900" cy="2419350"/>
            <a:chOff x="0" y="0"/>
            <a:chExt cx="9093200" cy="3225800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9093200" cy="3225800"/>
              <a:chOff x="0" y="0"/>
              <a:chExt cx="9093200" cy="32258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90932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9093200">
                    <a:moveTo>
                      <a:pt x="0" y="0"/>
                    </a:moveTo>
                    <a:lnTo>
                      <a:pt x="9093200" y="0"/>
                    </a:lnTo>
                    <a:lnTo>
                      <a:pt x="90932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90932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0" y="0"/>
              <a:ext cx="88900" cy="3225800"/>
              <a:chOff x="0" y="0"/>
              <a:chExt cx="88900" cy="3225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89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38100"/>
                <a:ext cx="889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381000" y="327025"/>
              <a:ext cx="83312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RETEST RESULT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381000" y="885825"/>
              <a:ext cx="83312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N/A — awareness/technical controls recommended, not retested.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6672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FRESHCART / SECURITY ASSESSMENT  •  11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01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Vulnerability Management Finding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523875"/>
            <a:ext cx="1238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11 / 20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1676400"/>
            <a:ext cx="16459200" cy="0"/>
          </a:xfrm>
          <a:prstGeom prst="line">
            <a:avLst/>
          </a:prstGeom>
          <a:ln cap="flat" w="19050">
            <a:solidFill>
              <a:srgbClr val="2444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" y="2095500"/>
            <a:ext cx="7524750" cy="1562100"/>
            <a:chOff x="0" y="0"/>
            <a:chExt cx="10033000" cy="20828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033000" cy="2082800"/>
              <a:chOff x="0" y="0"/>
              <a:chExt cx="10033000" cy="208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0330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0330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88900" cy="2082800"/>
              <a:chOff x="0" y="0"/>
              <a:chExt cx="88900" cy="208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89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89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327025"/>
              <a:ext cx="9271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SECURITY QUESTION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885825"/>
              <a:ext cx="9271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Are discovered services validated against real business need?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96350" y="2095500"/>
            <a:ext cx="8477250" cy="1562100"/>
            <a:chOff x="0" y="0"/>
            <a:chExt cx="11303000" cy="2082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303000" cy="2082800"/>
              <a:chOff x="0" y="0"/>
              <a:chExt cx="11303000" cy="208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3030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11303000">
                    <a:moveTo>
                      <a:pt x="0" y="0"/>
                    </a:moveTo>
                    <a:lnTo>
                      <a:pt x="11303000" y="0"/>
                    </a:lnTo>
                    <a:lnTo>
                      <a:pt x="113030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13030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8900" cy="2082800"/>
              <a:chOff x="0" y="0"/>
              <a:chExt cx="88900" cy="208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89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FBBF2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89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000" y="327025"/>
              <a:ext cx="10541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BF2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EVIDENCE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1000" y="885825"/>
              <a:ext cx="10541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Nmap: firewall admin interface reachable on HTTP (port 80).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3905250"/>
            <a:ext cx="4953000" cy="2038350"/>
            <a:chOff x="0" y="0"/>
            <a:chExt cx="6604000" cy="27178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604000" cy="2717800"/>
              <a:chOff x="0" y="0"/>
              <a:chExt cx="6604000" cy="2717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6040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6040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81000" y="327025"/>
              <a:ext cx="584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FINDING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81000" y="885825"/>
              <a:ext cx="58420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VULN-01: unencrypted admin interface on the internal LAN.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219700" y="3905250"/>
            <a:ext cx="4953000" cy="2038350"/>
            <a:chOff x="0" y="0"/>
            <a:chExt cx="6604000" cy="27178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6604000" cy="2717800"/>
              <a:chOff x="0" y="0"/>
              <a:chExt cx="6604000" cy="2717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6040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66040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81000" y="327025"/>
              <a:ext cx="584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BUSINESS RISK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81000" y="885825"/>
              <a:ext cx="58420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Firewall control could be intercepted or brute-forced.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439400" y="3905250"/>
            <a:ext cx="6934200" cy="2038350"/>
            <a:chOff x="0" y="0"/>
            <a:chExt cx="9245600" cy="2717800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9245600" cy="2717800"/>
              <a:chOff x="0" y="0"/>
              <a:chExt cx="9245600" cy="2717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92456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9245600">
                    <a:moveTo>
                      <a:pt x="0" y="0"/>
                    </a:moveTo>
                    <a:lnTo>
                      <a:pt x="9245600" y="0"/>
                    </a:lnTo>
                    <a:lnTo>
                      <a:pt x="92456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92456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381000" y="327025"/>
              <a:ext cx="84836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RECOMMENDED CONTROL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381000" y="885825"/>
              <a:ext cx="84836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Disable HTTP admin access; enforce HTTPS only.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14400" y="6191250"/>
            <a:ext cx="10287000" cy="2419350"/>
            <a:chOff x="0" y="0"/>
            <a:chExt cx="13716000" cy="32258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13716000" cy="3225800"/>
              <a:chOff x="0" y="0"/>
              <a:chExt cx="13716000" cy="32258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37160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13716000">
                    <a:moveTo>
                      <a:pt x="0" y="0"/>
                    </a:moveTo>
                    <a:lnTo>
                      <a:pt x="13716000" y="0"/>
                    </a:lnTo>
                    <a:lnTo>
                      <a:pt x="137160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137160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0"/>
              <a:ext cx="88900" cy="3225800"/>
              <a:chOff x="0" y="0"/>
              <a:chExt cx="88900" cy="3225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89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889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381000" y="327025"/>
              <a:ext cx="12954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REMEDIATION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381000" y="885825"/>
              <a:ext cx="12954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Documented; not yet applied — remains Open.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553700" y="6191250"/>
            <a:ext cx="6819900" cy="2419350"/>
            <a:chOff x="0" y="0"/>
            <a:chExt cx="9093200" cy="3225800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9093200" cy="3225800"/>
              <a:chOff x="0" y="0"/>
              <a:chExt cx="9093200" cy="32258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90932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9093200">
                    <a:moveTo>
                      <a:pt x="0" y="0"/>
                    </a:moveTo>
                    <a:lnTo>
                      <a:pt x="9093200" y="0"/>
                    </a:lnTo>
                    <a:lnTo>
                      <a:pt x="90932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90932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0" y="0"/>
              <a:ext cx="88900" cy="3225800"/>
              <a:chOff x="0" y="0"/>
              <a:chExt cx="88900" cy="3225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89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38100"/>
                <a:ext cx="889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381000" y="327025"/>
              <a:ext cx="83312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RETEST RESULT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381000" y="885825"/>
              <a:ext cx="83312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Not yet retested — FreshCart’s #2 organizational risk.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6672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FRESHCART / SECURITY ASSESSMENT  •  12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01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Endpoint Security Finding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523875"/>
            <a:ext cx="1238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12 / 20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1676400"/>
            <a:ext cx="16459200" cy="0"/>
          </a:xfrm>
          <a:prstGeom prst="line">
            <a:avLst/>
          </a:prstGeom>
          <a:ln cap="flat" w="19050">
            <a:solidFill>
              <a:srgbClr val="2444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" y="2095500"/>
            <a:ext cx="7524750" cy="1562100"/>
            <a:chOff x="0" y="0"/>
            <a:chExt cx="10033000" cy="20828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033000" cy="2082800"/>
              <a:chOff x="0" y="0"/>
              <a:chExt cx="10033000" cy="208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0330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0330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88900" cy="2082800"/>
              <a:chOff x="0" y="0"/>
              <a:chExt cx="88900" cy="208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89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89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327025"/>
              <a:ext cx="9271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SECURITY QUESTION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885825"/>
              <a:ext cx="9271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Does PC01 log logon/logoff events for investigation?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96350" y="2095500"/>
            <a:ext cx="8477250" cy="1562100"/>
            <a:chOff x="0" y="0"/>
            <a:chExt cx="11303000" cy="2082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303000" cy="2082800"/>
              <a:chOff x="0" y="0"/>
              <a:chExt cx="11303000" cy="208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3030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11303000">
                    <a:moveTo>
                      <a:pt x="0" y="0"/>
                    </a:moveTo>
                    <a:lnTo>
                      <a:pt x="11303000" y="0"/>
                    </a:lnTo>
                    <a:lnTo>
                      <a:pt x="113030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13030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8900" cy="2082800"/>
              <a:chOff x="0" y="0"/>
              <a:chExt cx="88900" cy="208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89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FBBF2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89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000" y="327025"/>
              <a:ext cx="10541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BF2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EVIDENCE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1000" y="885825"/>
              <a:ext cx="10541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Event Viewer showed no recent logon/logoff events.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3905250"/>
            <a:ext cx="4953000" cy="2038350"/>
            <a:chOff x="0" y="0"/>
            <a:chExt cx="6604000" cy="27178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604000" cy="2717800"/>
              <a:chOff x="0" y="0"/>
              <a:chExt cx="6604000" cy="2717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6040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6040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81000" y="327025"/>
              <a:ext cx="584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FINDING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81000" y="885825"/>
              <a:ext cx="58420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ENDPOINT-01: Logon/Logoff auditing disabled by default.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219700" y="3905250"/>
            <a:ext cx="4953000" cy="2038350"/>
            <a:chOff x="0" y="0"/>
            <a:chExt cx="6604000" cy="27178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6604000" cy="2717800"/>
              <a:chOff x="0" y="0"/>
              <a:chExt cx="6604000" cy="2717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6040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66040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81000" y="327025"/>
              <a:ext cx="584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BUSINESS RISK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81000" y="885825"/>
              <a:ext cx="5842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Unauthorized logons on the Finance PC would go unseen.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439400" y="3905250"/>
            <a:ext cx="6934200" cy="2038350"/>
            <a:chOff x="0" y="0"/>
            <a:chExt cx="9245600" cy="2717800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9245600" cy="2717800"/>
              <a:chOff x="0" y="0"/>
              <a:chExt cx="9245600" cy="2717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92456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9245600">
                    <a:moveTo>
                      <a:pt x="0" y="0"/>
                    </a:moveTo>
                    <a:lnTo>
                      <a:pt x="9245600" y="0"/>
                    </a:lnTo>
                    <a:lnTo>
                      <a:pt x="92456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92456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381000" y="327025"/>
              <a:ext cx="84836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RECOMMENDED CONTROL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381000" y="885825"/>
              <a:ext cx="84836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Enable Success/Failure auditing for Logon/Logoff.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14400" y="6191250"/>
            <a:ext cx="10287000" cy="2419350"/>
            <a:chOff x="0" y="0"/>
            <a:chExt cx="13716000" cy="32258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13716000" cy="3225800"/>
              <a:chOff x="0" y="0"/>
              <a:chExt cx="13716000" cy="32258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37160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13716000">
                    <a:moveTo>
                      <a:pt x="0" y="0"/>
                    </a:moveTo>
                    <a:lnTo>
                      <a:pt x="13716000" y="0"/>
                    </a:lnTo>
                    <a:lnTo>
                      <a:pt x="137160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137160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0"/>
              <a:ext cx="88900" cy="3225800"/>
              <a:chOff x="0" y="0"/>
              <a:chExt cx="88900" cy="3225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89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889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381000" y="327025"/>
              <a:ext cx="12954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REMEDIATION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381000" y="885825"/>
              <a:ext cx="12954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auditpol /set ... /success:enable /failure:enable.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553700" y="6191250"/>
            <a:ext cx="6819900" cy="2419350"/>
            <a:chOff x="0" y="0"/>
            <a:chExt cx="9093200" cy="3225800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9093200" cy="3225800"/>
              <a:chOff x="0" y="0"/>
              <a:chExt cx="9093200" cy="32258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90932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9093200">
                    <a:moveTo>
                      <a:pt x="0" y="0"/>
                    </a:moveTo>
                    <a:lnTo>
                      <a:pt x="9093200" y="0"/>
                    </a:lnTo>
                    <a:lnTo>
                      <a:pt x="90932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90932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0" y="0"/>
              <a:ext cx="88900" cy="3225800"/>
              <a:chOff x="0" y="0"/>
              <a:chExt cx="88900" cy="3225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89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38100"/>
                <a:ext cx="889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381000" y="327025"/>
              <a:ext cx="83312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RETEST RESULT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381000" y="885825"/>
              <a:ext cx="83312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auditpol confirms auditing on; Event IDs 4672/4627 logged.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6672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FRESHCART / SECURITY ASSESSMENT  •  13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01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Incident Response / SOC Finding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523875"/>
            <a:ext cx="1238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13 / 20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1676400"/>
            <a:ext cx="16459200" cy="0"/>
          </a:xfrm>
          <a:prstGeom prst="line">
            <a:avLst/>
          </a:prstGeom>
          <a:ln cap="flat" w="19050">
            <a:solidFill>
              <a:srgbClr val="2444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" y="2095500"/>
            <a:ext cx="7524750" cy="1562100"/>
            <a:chOff x="0" y="0"/>
            <a:chExt cx="10033000" cy="20828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033000" cy="2082800"/>
              <a:chOff x="0" y="0"/>
              <a:chExt cx="10033000" cy="208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0330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0330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88900" cy="2082800"/>
              <a:chOff x="0" y="0"/>
              <a:chExt cx="88900" cy="208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89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89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327025"/>
              <a:ext cx="9271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SECURITY QUESTION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885825"/>
              <a:ext cx="9271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Can the evidence be correlated into a defensible timeline?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96350" y="2095500"/>
            <a:ext cx="8477250" cy="1562100"/>
            <a:chOff x="0" y="0"/>
            <a:chExt cx="11303000" cy="2082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303000" cy="2082800"/>
              <a:chOff x="0" y="0"/>
              <a:chExt cx="11303000" cy="208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3030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11303000">
                    <a:moveTo>
                      <a:pt x="0" y="0"/>
                    </a:moveTo>
                    <a:lnTo>
                      <a:pt x="11303000" y="0"/>
                    </a:lnTo>
                    <a:lnTo>
                      <a:pt x="113030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13030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8900" cy="2082800"/>
              <a:chOff x="0" y="0"/>
              <a:chExt cx="88900" cy="208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8900" cy="2082800"/>
              </a:xfrm>
              <a:custGeom>
                <a:avLst/>
                <a:gdLst/>
                <a:ahLst/>
                <a:cxnLst/>
                <a:rect r="r" b="b" t="t" l="l"/>
                <a:pathLst>
                  <a:path h="2082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082800"/>
                    </a:lnTo>
                    <a:lnTo>
                      <a:pt x="0" y="2082800"/>
                    </a:lnTo>
                    <a:close/>
                  </a:path>
                </a:pathLst>
              </a:custGeom>
              <a:solidFill>
                <a:srgbClr val="FBBF2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8900" cy="212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000" y="327025"/>
              <a:ext cx="10541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BF2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EVIDENCE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1000" y="885825"/>
              <a:ext cx="10541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9 evidence items (EV-01–EV-09) indexed across all 8 fields.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3905250"/>
            <a:ext cx="4953000" cy="2038350"/>
            <a:chOff x="0" y="0"/>
            <a:chExt cx="6604000" cy="27178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604000" cy="2717800"/>
              <a:chOff x="0" y="0"/>
              <a:chExt cx="6604000" cy="2717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6040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6040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81000" y="327025"/>
              <a:ext cx="584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FINDING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81000" y="885825"/>
              <a:ext cx="58420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Login-then-file-edit sequence is one confirmed chain.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219700" y="3905250"/>
            <a:ext cx="4953000" cy="2038350"/>
            <a:chOff x="0" y="0"/>
            <a:chExt cx="6604000" cy="27178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6604000" cy="2717800"/>
              <a:chOff x="0" y="0"/>
              <a:chExt cx="6604000" cy="2717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6040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66040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81000" y="327025"/>
              <a:ext cx="584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BUSINESS RISK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81000" y="885825"/>
              <a:ext cx="5842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Without correlation, related signals look like isolated noise.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439400" y="3905250"/>
            <a:ext cx="6934200" cy="2038350"/>
            <a:chOff x="0" y="0"/>
            <a:chExt cx="9245600" cy="2717800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9245600" cy="2717800"/>
              <a:chOff x="0" y="0"/>
              <a:chExt cx="9245600" cy="2717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92456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9245600">
                    <a:moveTo>
                      <a:pt x="0" y="0"/>
                    </a:moveTo>
                    <a:lnTo>
                      <a:pt x="9245600" y="0"/>
                    </a:lnTo>
                    <a:lnTo>
                      <a:pt x="92456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92456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0"/>
              <a:ext cx="88900" cy="2717800"/>
              <a:chOff x="0" y="0"/>
              <a:chExt cx="88900" cy="2717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8900" cy="2717800"/>
              </a:xfrm>
              <a:custGeom>
                <a:avLst/>
                <a:gdLst/>
                <a:ahLst/>
                <a:cxnLst/>
                <a:rect r="r" b="b" t="t" l="l"/>
                <a:pathLst>
                  <a:path h="2717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717800"/>
                    </a:lnTo>
                    <a:lnTo>
                      <a:pt x="0" y="27178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88900" cy="275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381000" y="327025"/>
              <a:ext cx="84836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RECOMMENDED CONTROL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381000" y="885825"/>
              <a:ext cx="84836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Maintain a shared evidence index for future incidents.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14400" y="6191250"/>
            <a:ext cx="10287000" cy="2419350"/>
            <a:chOff x="0" y="0"/>
            <a:chExt cx="13716000" cy="32258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13716000" cy="3225800"/>
              <a:chOff x="0" y="0"/>
              <a:chExt cx="13716000" cy="32258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37160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13716000">
                    <a:moveTo>
                      <a:pt x="0" y="0"/>
                    </a:moveTo>
                    <a:lnTo>
                      <a:pt x="13716000" y="0"/>
                    </a:lnTo>
                    <a:lnTo>
                      <a:pt x="137160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137160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0"/>
              <a:ext cx="88900" cy="3225800"/>
              <a:chOff x="0" y="0"/>
              <a:chExt cx="88900" cy="3225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89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889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381000" y="327025"/>
              <a:ext cx="12954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REMEDIATION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381000" y="885825"/>
              <a:ext cx="12954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Built a Confirmed/Likely/Possible/Unknown incident timeline.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553700" y="6191250"/>
            <a:ext cx="6819900" cy="2419350"/>
            <a:chOff x="0" y="0"/>
            <a:chExt cx="9093200" cy="3225800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9093200" cy="3225800"/>
              <a:chOff x="0" y="0"/>
              <a:chExt cx="9093200" cy="32258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90932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9093200">
                    <a:moveTo>
                      <a:pt x="0" y="0"/>
                    </a:moveTo>
                    <a:lnTo>
                      <a:pt x="9093200" y="0"/>
                    </a:lnTo>
                    <a:lnTo>
                      <a:pt x="90932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90932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0" y="0"/>
              <a:ext cx="88900" cy="3225800"/>
              <a:chOff x="0" y="0"/>
              <a:chExt cx="88900" cy="3225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8900" cy="3225800"/>
              </a:xfrm>
              <a:custGeom>
                <a:avLst/>
                <a:gdLst/>
                <a:ahLst/>
                <a:cxnLst/>
                <a:rect r="r" b="b" t="t" l="l"/>
                <a:pathLst>
                  <a:path h="32258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225800"/>
                    </a:lnTo>
                    <a:lnTo>
                      <a:pt x="0" y="32258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38100"/>
                <a:ext cx="88900" cy="326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381000" y="327025"/>
              <a:ext cx="83312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RETEST RESULT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381000" y="885825"/>
              <a:ext cx="83312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N/A — investigation output, not a technical control.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6672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FRESHCART / SECURITY ASSESSMENT  •  14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01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Connected Evidence Changes Priority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523875"/>
            <a:ext cx="1238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14 / 20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1676400"/>
            <a:ext cx="16459200" cy="0"/>
          </a:xfrm>
          <a:prstGeom prst="line">
            <a:avLst/>
          </a:prstGeom>
          <a:ln cap="flat" w="19050">
            <a:solidFill>
              <a:srgbClr val="2444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" y="2381250"/>
            <a:ext cx="4095750" cy="1809750"/>
            <a:chOff x="0" y="0"/>
            <a:chExt cx="5461000" cy="2413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461000" cy="2413000"/>
              <a:chOff x="0" y="0"/>
              <a:chExt cx="5461000" cy="2413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461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5461000">
                    <a:moveTo>
                      <a:pt x="0" y="0"/>
                    </a:moveTo>
                    <a:lnTo>
                      <a:pt x="5461000" y="0"/>
                    </a:lnTo>
                    <a:lnTo>
                      <a:pt x="5461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461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88900" cy="2413000"/>
              <a:chOff x="0" y="0"/>
              <a:chExt cx="88900" cy="2413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89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89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327025"/>
              <a:ext cx="4699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IDENTITY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885825"/>
              <a:ext cx="4699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finance01 has valid, working credentials (EV-02)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5010150" y="3286125"/>
            <a:ext cx="323850" cy="0"/>
          </a:xfrm>
          <a:prstGeom prst="line">
            <a:avLst/>
          </a:prstGeom>
          <a:ln cap="rnd" w="47625">
            <a:solidFill>
              <a:srgbClr val="9FB3C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5486400" y="2381250"/>
            <a:ext cx="4095750" cy="1809750"/>
            <a:chOff x="0" y="0"/>
            <a:chExt cx="5461000" cy="2413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461000" cy="2413000"/>
              <a:chOff x="0" y="0"/>
              <a:chExt cx="5461000" cy="2413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461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5461000">
                    <a:moveTo>
                      <a:pt x="0" y="0"/>
                    </a:moveTo>
                    <a:lnTo>
                      <a:pt x="5461000" y="0"/>
                    </a:lnTo>
                    <a:lnTo>
                      <a:pt x="5461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5461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88900" cy="2413000"/>
              <a:chOff x="0" y="0"/>
              <a:chExt cx="88900" cy="2413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89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BBF2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889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81000" y="327025"/>
              <a:ext cx="4699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BF2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EMAIL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81000" y="885825"/>
              <a:ext cx="4699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Phishing lure targets finance01 specifically (EV-01)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9582150" y="3286125"/>
            <a:ext cx="323850" cy="0"/>
          </a:xfrm>
          <a:prstGeom prst="line">
            <a:avLst/>
          </a:prstGeom>
          <a:ln cap="rnd" w="47625">
            <a:solidFill>
              <a:srgbClr val="9FB3C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058400" y="2381250"/>
            <a:ext cx="4095750" cy="1809750"/>
            <a:chOff x="0" y="0"/>
            <a:chExt cx="5461000" cy="2413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5461000" cy="2413000"/>
              <a:chOff x="0" y="0"/>
              <a:chExt cx="5461000" cy="2413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5461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5461000">
                    <a:moveTo>
                      <a:pt x="0" y="0"/>
                    </a:moveTo>
                    <a:lnTo>
                      <a:pt x="5461000" y="0"/>
                    </a:lnTo>
                    <a:lnTo>
                      <a:pt x="5461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5461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0"/>
              <a:ext cx="88900" cy="2413000"/>
              <a:chOff x="0" y="0"/>
              <a:chExt cx="88900" cy="2413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89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889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81000" y="327025"/>
              <a:ext cx="4699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NETWORK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81000" y="885825"/>
              <a:ext cx="4699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DMZ-to-LAN path existed independently (EV-05 / NET-01)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716000" y="2381250"/>
            <a:ext cx="3657600" cy="1809750"/>
            <a:chOff x="0" y="0"/>
            <a:chExt cx="4876800" cy="24130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4876800" cy="2413000"/>
              <a:chOff x="0" y="0"/>
              <a:chExt cx="4876800" cy="24130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8768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48768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0"/>
              <a:ext cx="88900" cy="2413000"/>
              <a:chOff x="0" y="0"/>
              <a:chExt cx="88900" cy="24130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89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889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381000" y="327025"/>
              <a:ext cx="41148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NEW UNDERSTANDING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381000" y="885825"/>
              <a:ext cx="41148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Two credible, independent paths — not one proven chain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14400" y="5143500"/>
            <a:ext cx="16459200" cy="2476500"/>
            <a:chOff x="0" y="0"/>
            <a:chExt cx="21945600" cy="3302000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21945600" cy="3302000"/>
              <a:chOff x="0" y="0"/>
              <a:chExt cx="21945600" cy="33020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219456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219456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0" y="0"/>
              <a:ext cx="88900" cy="3302000"/>
              <a:chOff x="0" y="0"/>
              <a:chExt cx="88900" cy="33020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89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889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381000" y="327025"/>
              <a:ext cx="211836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DECISION • PRIORITY ELEVATED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381000" y="885825"/>
              <a:ext cx="211836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Fix WEB-03 first  +  keep the DMZ/LAN block permanent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Evidence connects across fields, but does not force a single attack narrative.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6672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FRESHCART / SECURITY ASSESSMENT  •  15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01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5 Organizational Risks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523875"/>
            <a:ext cx="1238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15 / 20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1676400"/>
            <a:ext cx="16459200" cy="0"/>
          </a:xfrm>
          <a:prstGeom prst="line">
            <a:avLst/>
          </a:prstGeom>
          <a:ln cap="flat" w="19050">
            <a:solidFill>
              <a:srgbClr val="2444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" y="2143125"/>
            <a:ext cx="16459200" cy="1066800"/>
            <a:chOff x="0" y="0"/>
            <a:chExt cx="21945600" cy="14224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1945600" cy="1422400"/>
              <a:chOff x="0" y="0"/>
              <a:chExt cx="21945600" cy="1422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19456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19456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04800" y="266700"/>
              <a:ext cx="1270000" cy="548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spc="305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955800" y="317500"/>
              <a:ext cx="13335000" cy="441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400" b="true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WEB-03 — SQL Injection Authentication Bypass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7449800" y="339725"/>
              <a:ext cx="3175000" cy="343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b="true" sz="1575" spc="189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CRITICAL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3524250"/>
            <a:ext cx="16459200" cy="1066800"/>
            <a:chOff x="0" y="0"/>
            <a:chExt cx="21945600" cy="14224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1945600" cy="1422400"/>
              <a:chOff x="0" y="0"/>
              <a:chExt cx="21945600" cy="1422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19456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0D1B2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19456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04800" y="266700"/>
              <a:ext cx="1270000" cy="548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spc="305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955800" y="317500"/>
              <a:ext cx="13335000" cy="441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400" b="true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VULN-01 — Firewall Admin Interface over HTTP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7449800" y="339725"/>
              <a:ext cx="3175000" cy="343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b="true" sz="1575" spc="189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HIGH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4905375"/>
            <a:ext cx="16459200" cy="1066800"/>
            <a:chOff x="0" y="0"/>
            <a:chExt cx="21945600" cy="14224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21945600" cy="1422400"/>
              <a:chOff x="0" y="0"/>
              <a:chExt cx="21945600" cy="1422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9456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0D1B2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19456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04800" y="266700"/>
              <a:ext cx="1270000" cy="548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spc="305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955800" y="317500"/>
              <a:ext cx="13335000" cy="441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400" b="true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NET-01 — DMZ Not Isolated from Internal LAN (Resolved)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7449800" y="339725"/>
              <a:ext cx="3175000" cy="343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b="true" sz="1575" spc="189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HIGH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6286500"/>
            <a:ext cx="16459200" cy="1066800"/>
            <a:chOff x="0" y="0"/>
            <a:chExt cx="21945600" cy="14224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1945600" cy="1422400"/>
              <a:chOff x="0" y="0"/>
              <a:chExt cx="21945600" cy="14224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19456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0D1B2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219456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04800" y="266700"/>
              <a:ext cx="1270000" cy="548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spc="305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955800" y="317500"/>
              <a:ext cx="13335000" cy="441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400" b="true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DATA-01 — Customer Data Readable by Any Account (Resolved)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7449800" y="339725"/>
              <a:ext cx="3175000" cy="343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b="true" sz="1575" spc="189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HIGH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" y="7667625"/>
            <a:ext cx="16459200" cy="1066800"/>
            <a:chOff x="0" y="0"/>
            <a:chExt cx="21945600" cy="14224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21945600" cy="1422400"/>
              <a:chOff x="0" y="0"/>
              <a:chExt cx="21945600" cy="14224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19456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0D1B2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219456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304800" y="266700"/>
              <a:ext cx="1270000" cy="548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spc="305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05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955800" y="317500"/>
              <a:ext cx="13335000" cy="441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400" b="true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Phishing Exposure Targeting Finance (EV-01)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7449800" y="339725"/>
              <a:ext cx="3175000" cy="343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b="true" sz="1575" spc="189">
                  <a:solidFill>
                    <a:srgbClr val="FBBF2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MEDIUM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6672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FRESHCART / SECURITY ASSESSMENT  •  16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01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Remediation &amp; Retest — Part 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523875"/>
            <a:ext cx="1238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16 / 20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1676400"/>
            <a:ext cx="16459200" cy="0"/>
          </a:xfrm>
          <a:prstGeom prst="line">
            <a:avLst/>
          </a:prstGeom>
          <a:ln cap="flat" w="19050">
            <a:solidFill>
              <a:srgbClr val="2444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" y="2667000"/>
            <a:ext cx="5029200" cy="4095750"/>
            <a:chOff x="0" y="0"/>
            <a:chExt cx="6705600" cy="5461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705600" cy="5461000"/>
              <a:chOff x="0" y="0"/>
              <a:chExt cx="6705600" cy="5461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7056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6705600">
                    <a:moveTo>
                      <a:pt x="0" y="0"/>
                    </a:moveTo>
                    <a:lnTo>
                      <a:pt x="6705600" y="0"/>
                    </a:lnTo>
                    <a:lnTo>
                      <a:pt x="67056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7056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88900" cy="5461000"/>
              <a:chOff x="0" y="0"/>
              <a:chExt cx="88900" cy="5461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89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FBBF2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89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327025"/>
              <a:ext cx="59436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BF2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BEFORE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885825"/>
              <a:ext cx="59436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itadmin had no sudo rights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DMZ could reach the Internal LAN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5953125" y="4714875"/>
            <a:ext cx="428625" cy="0"/>
          </a:xfrm>
          <a:prstGeom prst="line">
            <a:avLst/>
          </a:prstGeom>
          <a:ln cap="rnd" w="66675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6400800" y="2667000"/>
            <a:ext cx="5029200" cy="4095750"/>
            <a:chOff x="0" y="0"/>
            <a:chExt cx="6705600" cy="5461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705600" cy="5461000"/>
              <a:chOff x="0" y="0"/>
              <a:chExt cx="6705600" cy="5461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7056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6705600">
                    <a:moveTo>
                      <a:pt x="0" y="0"/>
                    </a:moveTo>
                    <a:lnTo>
                      <a:pt x="6705600" y="0"/>
                    </a:lnTo>
                    <a:lnTo>
                      <a:pt x="67056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7056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88900" cy="5461000"/>
              <a:chOff x="0" y="0"/>
              <a:chExt cx="88900" cy="5461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89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FB718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889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81000" y="327025"/>
              <a:ext cx="59436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PROBLEM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81000" y="885825"/>
              <a:ext cx="59436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Broken accountability + no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segmentation boundary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1439525" y="4714875"/>
            <a:ext cx="428625" cy="0"/>
          </a:xfrm>
          <a:prstGeom prst="line">
            <a:avLst/>
          </a:prstGeom>
          <a:ln cap="rnd" w="66675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1887200" y="2667000"/>
            <a:ext cx="5029200" cy="4095750"/>
            <a:chOff x="0" y="0"/>
            <a:chExt cx="6705600" cy="5461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6705600" cy="5461000"/>
              <a:chOff x="0" y="0"/>
              <a:chExt cx="6705600" cy="5461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7056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6705600">
                    <a:moveTo>
                      <a:pt x="0" y="0"/>
                    </a:moveTo>
                    <a:lnTo>
                      <a:pt x="6705600" y="0"/>
                    </a:lnTo>
                    <a:lnTo>
                      <a:pt x="67056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67056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0"/>
              <a:ext cx="88900" cy="5461000"/>
              <a:chOff x="0" y="0"/>
              <a:chExt cx="88900" cy="5461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89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889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81000" y="327025"/>
              <a:ext cx="59436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ACTION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81000" y="885825"/>
              <a:ext cx="5943600" cy="1327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Add itadmin to sudo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Block DMZ-to-LAN traffic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Restrict customer file permissions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6672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FRESHCART / SECURITY ASSESSMENT  •  17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01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Remediation &amp; Retest — Part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523875"/>
            <a:ext cx="1238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17 / 20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1676400"/>
            <a:ext cx="16459200" cy="0"/>
          </a:xfrm>
          <a:prstGeom prst="line">
            <a:avLst/>
          </a:prstGeom>
          <a:ln cap="flat" w="19050">
            <a:solidFill>
              <a:srgbClr val="2444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" y="2476500"/>
            <a:ext cx="5029200" cy="3810000"/>
            <a:chOff x="0" y="0"/>
            <a:chExt cx="6705600" cy="5080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705600" cy="5080000"/>
              <a:chOff x="0" y="0"/>
              <a:chExt cx="6705600" cy="508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705600" cy="5080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0" w="6705600">
                    <a:moveTo>
                      <a:pt x="0" y="0"/>
                    </a:moveTo>
                    <a:lnTo>
                      <a:pt x="6705600" y="0"/>
                    </a:lnTo>
                    <a:lnTo>
                      <a:pt x="6705600" y="5080000"/>
                    </a:lnTo>
                    <a:lnTo>
                      <a:pt x="0" y="5080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705600" cy="511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88900" cy="5080000"/>
              <a:chOff x="0" y="0"/>
              <a:chExt cx="88900" cy="508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8900" cy="5080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5080000"/>
                    </a:lnTo>
                    <a:lnTo>
                      <a:pt x="0" y="50800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8900" cy="511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327025"/>
              <a:ext cx="59436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AFTER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885825"/>
              <a:ext cx="5943600" cy="1327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itadmin has sudo, no data access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DMZ-to-LAN traffic blocked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customers.csv access restricted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00800" y="2476500"/>
            <a:ext cx="5029200" cy="3810000"/>
            <a:chOff x="0" y="0"/>
            <a:chExt cx="6705600" cy="5080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705600" cy="5080000"/>
              <a:chOff x="0" y="0"/>
              <a:chExt cx="6705600" cy="508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705600" cy="5080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0" w="6705600">
                    <a:moveTo>
                      <a:pt x="0" y="0"/>
                    </a:moveTo>
                    <a:lnTo>
                      <a:pt x="6705600" y="0"/>
                    </a:lnTo>
                    <a:lnTo>
                      <a:pt x="6705600" y="5080000"/>
                    </a:lnTo>
                    <a:lnTo>
                      <a:pt x="0" y="5080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705600" cy="511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8900" cy="5080000"/>
              <a:chOff x="0" y="0"/>
              <a:chExt cx="88900" cy="5080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8900" cy="5080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5080000"/>
                    </a:lnTo>
                    <a:lnTo>
                      <a:pt x="0" y="5080000"/>
                    </a:lnTo>
                    <a:close/>
                  </a:path>
                </a:pathLst>
              </a:custGeom>
              <a:solidFill>
                <a:srgbClr val="FBBF2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8900" cy="511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000" y="327025"/>
              <a:ext cx="59436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BF2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RETEST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1000" y="885825"/>
              <a:ext cx="5943600" cy="1327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sudo -u itadmin finance → denied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ping WEB→SRV → 100% loss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employee01 read → denied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887200" y="2476500"/>
            <a:ext cx="5029200" cy="3810000"/>
            <a:chOff x="0" y="0"/>
            <a:chExt cx="6705600" cy="5080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705600" cy="5080000"/>
              <a:chOff x="0" y="0"/>
              <a:chExt cx="6705600" cy="5080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705600" cy="5080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0" w="6705600">
                    <a:moveTo>
                      <a:pt x="0" y="0"/>
                    </a:moveTo>
                    <a:lnTo>
                      <a:pt x="6705600" y="0"/>
                    </a:lnTo>
                    <a:lnTo>
                      <a:pt x="6705600" y="5080000"/>
                    </a:lnTo>
                    <a:lnTo>
                      <a:pt x="0" y="5080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705600" cy="511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88900" cy="5080000"/>
              <a:chOff x="0" y="0"/>
              <a:chExt cx="88900" cy="5080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8900" cy="5080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5080000"/>
                    </a:lnTo>
                    <a:lnTo>
                      <a:pt x="0" y="50800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88900" cy="511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81000" y="327025"/>
              <a:ext cx="59436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RESULT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81000" y="885825"/>
              <a:ext cx="5943600" cy="88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3 of 5 top risks resolved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with verified before/after evidence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14400" y="7305675"/>
            <a:ext cx="164592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7"/>
              </a:lnSpc>
            </a:pPr>
            <a:r>
              <a:rPr lang="en-US" sz="4350" b="true">
                <a:solidFill>
                  <a:srgbClr val="36D39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CONTROL EFFECTIVENESS  ↑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6672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FRESHCART / SECURITY ASSESSMENT  •  18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01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Incident Timeline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523875"/>
            <a:ext cx="1238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18 / 20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1676400"/>
            <a:ext cx="16459200" cy="0"/>
          </a:xfrm>
          <a:prstGeom prst="line">
            <a:avLst/>
          </a:prstGeom>
          <a:ln cap="flat" w="19050">
            <a:solidFill>
              <a:srgbClr val="2444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428750" y="5334000"/>
            <a:ext cx="15430500" cy="0"/>
          </a:xfrm>
          <a:prstGeom prst="line">
            <a:avLst/>
          </a:prstGeom>
          <a:ln cap="rnd" w="57150">
            <a:solidFill>
              <a:srgbClr val="2444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143000" y="2571750"/>
            <a:ext cx="2381250" cy="1062990"/>
            <a:chOff x="0" y="0"/>
            <a:chExt cx="3175000" cy="141732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28575"/>
              <a:ext cx="3175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FBBF2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T+0:00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27050"/>
              <a:ext cx="3175000" cy="373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7"/>
                </a:lnSpc>
              </a:pPr>
              <a:r>
                <a:rPr lang="en-US" sz="1950" b="true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Phishing email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49350"/>
              <a:ext cx="3175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spc="152" b="true">
                  <a:solidFill>
                    <a:srgbClr val="FBBF2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CONFIRMED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71700" y="5210175"/>
            <a:ext cx="247650" cy="247650"/>
            <a:chOff x="0" y="0"/>
            <a:chExt cx="330200" cy="330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FBBF24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302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943350" y="5905500"/>
            <a:ext cx="2381250" cy="1062990"/>
            <a:chOff x="0" y="0"/>
            <a:chExt cx="3175000" cy="141732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28575"/>
              <a:ext cx="3175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FBBF2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00:39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527050"/>
              <a:ext cx="3175000" cy="373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7"/>
                </a:lnSpc>
              </a:pPr>
              <a:r>
                <a:rPr lang="en-US" sz="1950" b="true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Failed SSH logins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149350"/>
              <a:ext cx="3175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spc="152" b="true">
                  <a:solidFill>
                    <a:srgbClr val="FBBF2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CONFIRMED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972050" y="5210175"/>
            <a:ext cx="247650" cy="247650"/>
            <a:chOff x="0" y="0"/>
            <a:chExt cx="330200" cy="330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FBBF24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302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743700" y="2571750"/>
            <a:ext cx="2381250" cy="1062990"/>
            <a:chOff x="0" y="0"/>
            <a:chExt cx="3175000" cy="1417320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28575"/>
              <a:ext cx="3175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00:42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527050"/>
              <a:ext cx="3175000" cy="373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7"/>
                </a:lnSpc>
              </a:pPr>
              <a:r>
                <a:rPr lang="en-US" sz="1950" b="true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Successful SSH login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1149350"/>
              <a:ext cx="3175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spc="15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CONFIRMED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772400" y="5210175"/>
            <a:ext cx="247650" cy="247650"/>
            <a:chOff x="0" y="0"/>
            <a:chExt cx="330200" cy="330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FB7185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302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44050" y="5905500"/>
            <a:ext cx="2381250" cy="1062990"/>
            <a:chOff x="0" y="0"/>
            <a:chExt cx="3175000" cy="1417320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28575"/>
              <a:ext cx="3175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00:44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527050"/>
              <a:ext cx="3175000" cy="373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7"/>
                </a:lnSpc>
              </a:pPr>
              <a:r>
                <a:rPr lang="en-US" sz="1950" b="true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Sales file modified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1149350"/>
              <a:ext cx="3175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spc="152" b="true">
                  <a:solidFill>
                    <a:srgbClr val="FB718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CONFIRMED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572750" y="5210175"/>
            <a:ext cx="247650" cy="247650"/>
            <a:chOff x="0" y="0"/>
            <a:chExt cx="330200" cy="330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FB7185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302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44400" y="2571750"/>
            <a:ext cx="2381250" cy="1062990"/>
            <a:chOff x="0" y="0"/>
            <a:chExt cx="3175000" cy="1417320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-28575"/>
              <a:ext cx="3175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00:45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527050"/>
              <a:ext cx="3175000" cy="373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7"/>
                </a:lnSpc>
              </a:pPr>
              <a:r>
                <a:rPr lang="en-US" sz="1950" b="true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Session closed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1149350"/>
              <a:ext cx="3175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spc="15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CONFIRMED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373100" y="5210175"/>
            <a:ext cx="247650" cy="247650"/>
            <a:chOff x="0" y="0"/>
            <a:chExt cx="330200" cy="330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22D3EE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3302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144750" y="5905500"/>
            <a:ext cx="2381250" cy="1062990"/>
            <a:chOff x="0" y="0"/>
            <a:chExt cx="3175000" cy="1417320"/>
          </a:xfrm>
        </p:grpSpPr>
        <p:sp>
          <p:nvSpPr>
            <p:cNvPr name="TextBox 43" id="43"/>
            <p:cNvSpPr txBox="true"/>
            <p:nvPr/>
          </p:nvSpPr>
          <p:spPr>
            <a:xfrm rot="0">
              <a:off x="0" y="-28575"/>
              <a:ext cx="3175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9FB3C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—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0" y="527050"/>
              <a:ext cx="3175000" cy="373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7"/>
                </a:lnSpc>
              </a:pPr>
              <a:r>
                <a:rPr lang="en-US" sz="1950" b="true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Did the email cause the login?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0" y="1149350"/>
              <a:ext cx="3175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spc="152" b="true">
                  <a:solidFill>
                    <a:srgbClr val="9FB3C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UNKNOWN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6173450" y="5210175"/>
            <a:ext cx="247650" cy="247650"/>
            <a:chOff x="0" y="0"/>
            <a:chExt cx="330200" cy="330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9FB3C8"/>
            </a:solidFill>
            <a:ln cap="sq">
              <a:noFill/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302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6672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FRESHCART / SECURITY ASSESSMENT  •  19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01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Creative Contributions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523875"/>
            <a:ext cx="1238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19 / 20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1676400"/>
            <a:ext cx="16459200" cy="0"/>
          </a:xfrm>
          <a:prstGeom prst="line">
            <a:avLst/>
          </a:prstGeom>
          <a:ln cap="flat" w="19050">
            <a:solidFill>
              <a:srgbClr val="2444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" y="2286000"/>
            <a:ext cx="7715250" cy="5429250"/>
            <a:chOff x="0" y="0"/>
            <a:chExt cx="10287000" cy="7239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287000" cy="7239000"/>
              <a:chOff x="0" y="0"/>
              <a:chExt cx="10287000" cy="7239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287000" cy="7239000"/>
              </a:xfrm>
              <a:custGeom>
                <a:avLst/>
                <a:gdLst/>
                <a:ahLst/>
                <a:cxnLst/>
                <a:rect r="r" b="b" t="t" l="l"/>
                <a:pathLst>
                  <a:path h="7239000" w="102870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287000" cy="727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88900" cy="7239000"/>
              <a:chOff x="0" y="0"/>
              <a:chExt cx="88900" cy="7239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8900" cy="7239000"/>
              </a:xfrm>
              <a:custGeom>
                <a:avLst/>
                <a:gdLst/>
                <a:ahLst/>
                <a:cxnLst/>
                <a:rect r="r" b="b" t="t" l="l"/>
                <a:pathLst>
                  <a:path h="7239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8900" cy="727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327025"/>
              <a:ext cx="952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  AUTOMATED PHISHING RISK SCORER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885825"/>
              <a:ext cx="9525000" cy="177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Header analysis  +  content heuristics  →  one actionable risk score</a:t>
              </a:r>
            </a:p>
            <a:p>
              <a:pPr algn="l">
                <a:lnSpc>
                  <a:spcPts val="2632"/>
                </a:lnSpc>
              </a:pP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Rapidly prioritizes suspicious messages for analyst review.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58350" y="2286000"/>
            <a:ext cx="7715250" cy="5429250"/>
            <a:chOff x="0" y="0"/>
            <a:chExt cx="10287000" cy="7239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287000" cy="7239000"/>
              <a:chOff x="0" y="0"/>
              <a:chExt cx="10287000" cy="7239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287000" cy="7239000"/>
              </a:xfrm>
              <a:custGeom>
                <a:avLst/>
                <a:gdLst/>
                <a:ahLst/>
                <a:cxnLst/>
                <a:rect r="r" b="b" t="t" l="l"/>
                <a:pathLst>
                  <a:path h="7239000" w="102870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287000" cy="727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8900" cy="7239000"/>
              <a:chOff x="0" y="0"/>
              <a:chExt cx="88900" cy="7239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8900" cy="7239000"/>
              </a:xfrm>
              <a:custGeom>
                <a:avLst/>
                <a:gdLst/>
                <a:ahLst/>
                <a:cxnLst/>
                <a:rect r="r" b="b" t="t" l="l"/>
                <a:pathLst>
                  <a:path h="72390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8900" cy="727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000" y="327025"/>
              <a:ext cx="952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  WEIGHTED RISK PRIORITIZATION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1000" y="885825"/>
              <a:ext cx="9525000" cy="1327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Severity  ×  exposure  ×  access ease  ×  business impact</a:t>
              </a:r>
            </a:p>
            <a:p>
              <a:pPr algn="l">
                <a:lnSpc>
                  <a:spcPts val="2632"/>
                </a:lnSpc>
              </a:pP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Reproduces the manual Top-5 ranking, with one instructive mismatch.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6672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FRESHCART / SECURITY ASSESSMENT  •  20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01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Signals to a Stronger Security Posture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523875"/>
            <a:ext cx="1238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20 / 20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1676400"/>
            <a:ext cx="16459200" cy="0"/>
          </a:xfrm>
          <a:prstGeom prst="line">
            <a:avLst/>
          </a:prstGeom>
          <a:ln cap="flat" w="19050">
            <a:solidFill>
              <a:srgbClr val="2444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" y="2238375"/>
            <a:ext cx="4953000" cy="2619375"/>
            <a:chOff x="0" y="0"/>
            <a:chExt cx="6604000" cy="34925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604000" cy="3492500"/>
              <a:chOff x="0" y="0"/>
              <a:chExt cx="6604000" cy="3492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6040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6040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88900" cy="3492500"/>
              <a:chOff x="0" y="0"/>
              <a:chExt cx="88900" cy="34925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89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FBBF2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89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327025"/>
              <a:ext cx="584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FBBF2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LIMITATIONS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885825"/>
              <a:ext cx="5842000" cy="1327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Incomplete evidence from log-retention limits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Simulated VMware environment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057900" y="2238375"/>
            <a:ext cx="4953000" cy="2619375"/>
            <a:chOff x="0" y="0"/>
            <a:chExt cx="6604000" cy="34925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604000" cy="3492500"/>
              <a:chOff x="0" y="0"/>
              <a:chExt cx="6604000" cy="3492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6040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6040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8900" cy="3492500"/>
              <a:chOff x="0" y="0"/>
              <a:chExt cx="88900" cy="3492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89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89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000" y="327025"/>
              <a:ext cx="584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LESSONS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1000" y="885825"/>
              <a:ext cx="5842000" cy="1327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Correlate evidence across fields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Monitor continuously</a:t>
              </a:r>
            </a:p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Train people repeatedly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201400" y="2238375"/>
            <a:ext cx="6172200" cy="2619375"/>
            <a:chOff x="0" y="0"/>
            <a:chExt cx="8229600" cy="34925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8229600" cy="3492500"/>
              <a:chOff x="0" y="0"/>
              <a:chExt cx="8229600" cy="34925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2296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8229600">
                    <a:moveTo>
                      <a:pt x="0" y="0"/>
                    </a:moveTo>
                    <a:lnTo>
                      <a:pt x="8229600" y="0"/>
                    </a:lnTo>
                    <a:lnTo>
                      <a:pt x="82296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12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82296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88900" cy="3492500"/>
              <a:chOff x="0" y="0"/>
              <a:chExt cx="88900" cy="34925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89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36D3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889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81000" y="327025"/>
              <a:ext cx="74676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6D39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FINAL SECURITY STORY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81000" y="885825"/>
              <a:ext cx="7467600" cy="1327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8FAFC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Phishing + network weakness threatened sensitive data. Evidence drove priorities; remediation and retest reduced exposure.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14400" y="6134100"/>
            <a:ext cx="13335000" cy="152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5"/>
              </a:lnSpc>
            </a:pPr>
            <a:r>
              <a:rPr lang="en-US" sz="570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ONGOING VIGILANCE</a:t>
            </a:r>
          </a:p>
          <a:p>
            <a:pPr algn="l">
              <a:lnSpc>
                <a:spcPts val="5985"/>
              </a:lnSpc>
            </a:pPr>
            <a:r>
              <a:rPr lang="en-US" sz="570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 THE CONTROL.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400" y="8286750"/>
            <a:ext cx="66675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34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Questions &amp; discussion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716125" y="6048375"/>
            <a:ext cx="2657475" cy="1657350"/>
            <a:chOff x="0" y="0"/>
            <a:chExt cx="3543300" cy="2209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433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3543300">
                  <a:moveTo>
                    <a:pt x="0" y="0"/>
                  </a:moveTo>
                  <a:lnTo>
                    <a:pt x="3543300" y="0"/>
                  </a:lnTo>
                  <a:lnTo>
                    <a:pt x="3543300" y="2209800"/>
                  </a:lnTo>
                  <a:lnTo>
                    <a:pt x="0" y="2209800"/>
                  </a:lnTo>
                  <a:close/>
                </a:path>
              </a:pathLst>
            </a:custGeom>
            <a:solidFill>
              <a:srgbClr val="36D399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543300" cy="224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DAHSftpibeg</dc:identifier>
  <dcterms:modified xsi:type="dcterms:W3CDTF">2011-08-01T06:04:30Z</dcterms:modified>
  <cp:revision>1</cp:revision>
  <dc:title>nnn</dc:title>
</cp:coreProperties>
</file>